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628" r:id="rId3"/>
    <p:sldId id="629" r:id="rId4"/>
    <p:sldId id="640" r:id="rId5"/>
    <p:sldId id="611" r:id="rId6"/>
    <p:sldId id="634" r:id="rId7"/>
    <p:sldId id="633" r:id="rId8"/>
    <p:sldId id="636" r:id="rId9"/>
    <p:sldId id="635" r:id="rId10"/>
    <p:sldId id="637" r:id="rId11"/>
    <p:sldId id="638" r:id="rId12"/>
    <p:sldId id="639" r:id="rId13"/>
    <p:sldId id="624" r:id="rId14"/>
    <p:sldId id="606" r:id="rId1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Fira Sans Extra Condensed" panose="020B0503050000020004" pitchFamily="34" charset="0"/>
      <p:regular r:id="rId19"/>
      <p:bold r:id="rId20"/>
      <p:italic r:id="rId21"/>
      <p:boldItalic r:id="rId22"/>
    </p:embeddedFont>
    <p:embeddedFont>
      <p:font typeface="Fira Sans Extra Condensed SemiBold" panose="02020500000000000000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程偉軒" initials="程偉軒" lastIdx="2" clrIdx="0">
    <p:extLst>
      <p:ext uri="{19B8F6BF-5375-455C-9EA6-DF929625EA0E}">
        <p15:presenceInfo xmlns:p15="http://schemas.microsoft.com/office/powerpoint/2012/main" userId="程偉軒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F0824"/>
    <a:srgbClr val="F2F2F2"/>
    <a:srgbClr val="3D98DE"/>
    <a:srgbClr val="D9D9D9"/>
    <a:srgbClr val="D8C0CB"/>
    <a:srgbClr val="FBF4CB"/>
    <a:srgbClr val="F7EA97"/>
    <a:srgbClr val="B7DED2"/>
    <a:srgbClr val="6FB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0" autoAdjust="0"/>
    <p:restoredTop sz="88300" autoAdjust="0"/>
  </p:normalViewPr>
  <p:slideViewPr>
    <p:cSldViewPr snapToGrid="0">
      <p:cViewPr varScale="1">
        <p:scale>
          <a:sx n="96" d="100"/>
          <a:sy n="96" d="100"/>
        </p:scale>
        <p:origin x="1171" y="72"/>
      </p:cViewPr>
      <p:guideLst>
        <p:guide orient="horz" pos="162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1" d="100"/>
          <a:sy n="61" d="100"/>
        </p:scale>
        <p:origin x="3245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A903C8D7-525E-43C5-AB6E-8490CBE18B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445DA84-E1D2-4105-9536-2A350565E3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6EBB2-A0A6-4D46-9623-37769B0BB09E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378F254-BA60-4157-AA8B-719C2F0EE7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DEFA8E-41C3-4326-A810-67E8301694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F5A0E-03AE-4705-8FEE-72A9FEBA22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7725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8dd3693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8dd36938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5F008D86-DC28-9C37-E6FD-E62054CC9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D68AF2BD-AD8F-4B14-625F-8DD616B3DE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C72B8DD9-1048-E3DE-8076-C24185B23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0291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A3918F6D-1406-56CA-D765-D0C1E6036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E9C2207D-C10C-C4D3-A64E-30D6ADBB5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35B61F78-78C3-B143-1AEE-97ED4F6CDD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4424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B1C47BCC-A873-2F58-B930-146D367BF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F9E3C071-C1A7-C84A-9B76-D85C081F0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07F35F78-A289-E416-D228-88632BE1A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8238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3830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E35D8EAF-3D98-B460-217A-D62E10C6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9A4DE91C-A806-1947-E879-8EE25C22B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E4D50807-9EE3-0BC8-E183-800FCA169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2748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2BF50803-4E8C-911E-504A-10EF23C6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CA060DE4-F20B-FF66-E90B-BC0133631E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4D03E5D5-0219-00AB-F90D-5F2B8E1898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0082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61589EB3-115F-726E-B667-F7E0F878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9DB904A3-56DD-62C4-F7AB-02FB416134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589FA515-B014-04B7-E6E4-8B635C07EB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4252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09A48064-91EB-CB87-5681-C6C153ADB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D3BDAED8-20BB-ECDB-A70D-85A5114AB7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10488C8A-3342-C6F0-8863-C59EDCEC1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7200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B8185627-C186-3DAB-074C-02EF828DF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E069B6E6-274E-7F62-E445-6E2649D175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0256A21F-355B-30D2-0F17-0506CC681A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2390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AD34E71D-1D59-5A5E-A120-82BE7476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E63C31E7-F52B-1924-CCFD-64CBE43CA4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984F716C-6C95-7A76-6BD2-19FFE4AE7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5062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BF71ECC7-9AEF-1748-2B73-F91DA584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440AFA9B-4BE9-A914-614A-29D5419872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591AD482-1F5E-E7E7-08AF-E83C593F4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99518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A37CD33F-8563-174E-AE3D-178A8AA27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E9C42B50-68A3-4BCD-884D-4ABF1F6C7F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ADE0EC6E-6684-380B-E5F2-6CEE28B3B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36664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6274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 userDrawn="1">
  <p:cSld name="1_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38AE943-BFB4-4EB6-9556-2FD6D9B82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164889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50514" y="1623400"/>
            <a:ext cx="3514500" cy="14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50514" y="3142400"/>
            <a:ext cx="35145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57351A6-6C41-464F-B929-152144488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0076" y="4767263"/>
            <a:ext cx="2057400" cy="274637"/>
          </a:xfrm>
        </p:spPr>
        <p:txBody>
          <a:bodyPr/>
          <a:lstStyle>
            <a:lvl1pPr>
              <a:defRPr>
                <a:latin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87E85E0C-F6DF-4C2C-9974-C2547ED92EE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82D217-643E-4228-AA66-0286F7C52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Google Shape;46;p12">
            <a:extLst>
              <a:ext uri="{FF2B5EF4-FFF2-40B4-BE49-F238E27FC236}">
                <a16:creationId xmlns:a16="http://schemas.microsoft.com/office/drawing/2014/main" id="{7A8ABE70-C036-4475-B20F-9E10755540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2109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D4E10BF-0131-4079-A0E6-0EAD49468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54133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D98DE"/>
                </a:solidFill>
                <a:latin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87E85E0C-F6DF-4C2C-9974-C2547ED92EE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48" r:id="rId2"/>
    <p:sldLayoutId id="2147483649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2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hyperlink" Target="mailto:b11602057@ntu.edu.tw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mailto:plyen@ntu.edu.tw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lab.com/rm_vision/ros2-hik-camera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docs.ros.org/en/rolling/p/camera_calibration/doc/index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xenomatix.com/lidar/xenolidar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robosense.ai/en/IncrementalComponents/E1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hyperlink" Target="https://cdn.neuvition.com/products/titan-s2.html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www.edomtech.com/zh-tw/product-detail/innovizone-solid-state-lidar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5">
            <a:extLst>
              <a:ext uri="{FF2B5EF4-FFF2-40B4-BE49-F238E27FC236}">
                <a16:creationId xmlns:a16="http://schemas.microsoft.com/office/drawing/2014/main" id="{B7B20C1E-0C15-41E1-83F9-59791232E1F8}"/>
              </a:ext>
            </a:extLst>
          </p:cNvPr>
          <p:cNvSpPr/>
          <p:nvPr/>
        </p:nvSpPr>
        <p:spPr>
          <a:xfrm>
            <a:off x="8599894" y="-33900"/>
            <a:ext cx="540000" cy="5203797"/>
          </a:xfrm>
          <a:custGeom>
            <a:avLst/>
            <a:gdLst/>
            <a:ahLst/>
            <a:cxnLst/>
            <a:rect l="l" t="t" r="r" b="b"/>
            <a:pathLst>
              <a:path w="1513" h="166415" extrusionOk="0">
                <a:moveTo>
                  <a:pt x="751" y="1"/>
                </a:moveTo>
                <a:cubicBezTo>
                  <a:pt x="346" y="1"/>
                  <a:pt x="1" y="334"/>
                  <a:pt x="1" y="751"/>
                </a:cubicBezTo>
                <a:lnTo>
                  <a:pt x="1" y="165664"/>
                </a:lnTo>
                <a:cubicBezTo>
                  <a:pt x="1" y="166081"/>
                  <a:pt x="334" y="166414"/>
                  <a:pt x="751" y="166414"/>
                </a:cubicBezTo>
                <a:cubicBezTo>
                  <a:pt x="1167" y="166414"/>
                  <a:pt x="1513" y="166081"/>
                  <a:pt x="1513" y="165664"/>
                </a:cubicBezTo>
                <a:lnTo>
                  <a:pt x="1513" y="751"/>
                </a:lnTo>
                <a:cubicBezTo>
                  <a:pt x="1513" y="334"/>
                  <a:pt x="1167" y="1"/>
                  <a:pt x="751" y="1"/>
                </a:cubicBezTo>
                <a:close/>
              </a:path>
            </a:pathLst>
          </a:custGeom>
          <a:solidFill>
            <a:srgbClr val="C8E4FA"/>
          </a:solidFill>
          <a:ln>
            <a:solidFill>
              <a:srgbClr val="C8E4FA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60153" y="523781"/>
            <a:ext cx="8223688" cy="14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2800"/>
            </a:pPr>
            <a:r>
              <a:rPr lang="en-US" sz="27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 and LiDAR Comparison</a:t>
            </a:r>
            <a:endParaRPr sz="2700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785928" y="1929581"/>
            <a:ext cx="7572138" cy="12631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Presenter: </a:t>
            </a:r>
            <a:r>
              <a:rPr lang="en-US" altLang="zh-TW" sz="16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Ting-Yun Chien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Advisor: Ping-Lang Yen Ph.D.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19</a:t>
            </a:r>
            <a:r>
              <a:rPr lang="en-US" altLang="zh-TW" baseline="3000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th</a:t>
            </a:r>
            <a:r>
              <a:rPr lang="en-US" altLang="zh-TW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September, 2025, Summer semester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RMML Meeting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8" name="Google Shape;56;p15">
            <a:extLst>
              <a:ext uri="{FF2B5EF4-FFF2-40B4-BE49-F238E27FC236}">
                <a16:creationId xmlns:a16="http://schemas.microsoft.com/office/drawing/2014/main" id="{46447D95-D937-4153-89AE-5B1D288B4F8D}"/>
              </a:ext>
            </a:extLst>
          </p:cNvPr>
          <p:cNvSpPr txBox="1">
            <a:spLocks/>
          </p:cNvSpPr>
          <p:nvPr/>
        </p:nvSpPr>
        <p:spPr>
          <a:xfrm>
            <a:off x="249" y="3761273"/>
            <a:ext cx="3673361" cy="115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altLang="zh-TW" sz="8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    Ting-Yun Chien is with </a:t>
            </a:r>
            <a:r>
              <a:rPr lang="en-US" altLang="zh-TW" sz="800" dirty="0" err="1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Biomechatronics</a:t>
            </a:r>
            <a:r>
              <a:rPr lang="en-US" altLang="zh-TW" sz="8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Engineering, National Taiwan University, Taipei, Taiwan </a:t>
            </a:r>
            <a:r>
              <a:rPr lang="en-US" altLang="zh-TW" sz="8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  <a:hlinkClick r:id="rId3"/>
              </a:rPr>
              <a:t>b11602057@ntu.edu.tw</a:t>
            </a:r>
            <a:endParaRPr lang="en-US" altLang="zh-TW" sz="800" dirty="0"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0" indent="0"/>
            <a:r>
              <a:rPr lang="en-US" altLang="zh-TW" sz="8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    Ping-Lang Yen is with </a:t>
            </a:r>
            <a:r>
              <a:rPr lang="en-US" altLang="zh-TW" sz="800" dirty="0" err="1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Biomechatronics</a:t>
            </a:r>
            <a:r>
              <a:rPr lang="en-US" altLang="zh-TW" sz="800" dirty="0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Engineering, National Taiwan University, Taipei, Taiwan </a:t>
            </a:r>
            <a:r>
              <a:rPr lang="en-US" altLang="zh-TW" sz="800" dirty="0" err="1"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  <a:hlinkClick r:id="rId4"/>
              </a:rPr>
              <a:t>plyen@ntu.edu.tw</a:t>
            </a:r>
            <a:endParaRPr lang="en-US" altLang="zh-TW" sz="800" dirty="0"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0" indent="0"/>
            <a:endParaRPr lang="en-US" altLang="zh-TW" sz="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0" indent="0"/>
            <a:endParaRPr lang="en-US" altLang="zh-TW" sz="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pic>
        <p:nvPicPr>
          <p:cNvPr id="2" name="圖片 6">
            <a:extLst>
              <a:ext uri="{FF2B5EF4-FFF2-40B4-BE49-F238E27FC236}">
                <a16:creationId xmlns:a16="http://schemas.microsoft.com/office/drawing/2014/main" id="{56E3D0AD-8AF8-2A21-D048-5623808D2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6581" y="3604600"/>
            <a:ext cx="659168" cy="10151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E0BF6C-8D87-F267-9D15-2AFF2AD9B0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2820" y="3625227"/>
            <a:ext cx="1547399" cy="994492"/>
          </a:xfrm>
          <a:prstGeom prst="rect">
            <a:avLst/>
          </a:prstGeom>
        </p:spPr>
      </p:pic>
      <p:pic>
        <p:nvPicPr>
          <p:cNvPr id="4" name="圖片 4">
            <a:extLst>
              <a:ext uri="{FF2B5EF4-FFF2-40B4-BE49-F238E27FC236}">
                <a16:creationId xmlns:a16="http://schemas.microsoft.com/office/drawing/2014/main" id="{777D5ABA-0F8D-CFBE-948B-5B076085790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816" b="98440" l="368" r="32138">
                        <a14:foregroundMark x1="12782" y1="67518" x2="12782" y2="67518"/>
                        <a14:foregroundMark x1="8874" y1="69220" x2="8874" y2="69220"/>
                        <a14:foregroundMark x1="13609" y1="67092" x2="13609" y2="67092"/>
                        <a14:foregroundMark x1="14437" y1="64539" x2="14437" y2="64539"/>
                        <a14:foregroundMark x1="21149" y1="64113" x2="21149" y2="64113"/>
                        <a14:foregroundMark x1="24598" y1="60851" x2="24598" y2="60851"/>
                        <a14:foregroundMark x1="26851" y1="70355" x2="26851" y2="70355"/>
                        <a14:foregroundMark x1="27908" y1="86099" x2="27908" y2="86099"/>
                        <a14:foregroundMark x1="23264" y1="86383" x2="20920" y2="66383"/>
                        <a14:foregroundMark x1="25425" y1="76596" x2="18897" y2="58723"/>
                        <a14:foregroundMark x1="18437" y1="60567" x2="19862" y2="78440"/>
                        <a14:foregroundMark x1="19632" y1="83121" x2="24828" y2="88936"/>
                        <a14:foregroundMark x1="25747" y1="93050" x2="30161" y2="63830"/>
                        <a14:foregroundMark x1="29563" y1="60851" x2="23034" y2="52908"/>
                        <a14:foregroundMark x1="22115" y1="22270" x2="14529" y2="13191"/>
                        <a14:foregroundMark x1="15126" y1="19007" x2="11586" y2="25957"/>
                        <a14:foregroundMark x1="11816" y1="28511" x2="18805" y2="33901"/>
                        <a14:foregroundMark x1="21287" y1="35319" x2="13103" y2="41560"/>
                        <a14:foregroundMark x1="11218" y1="44823" x2="15954" y2="49645"/>
                        <a14:foregroundMark x1="22437" y1="37589" x2="16322" y2="50638"/>
                        <a14:foregroundMark x1="16184" y1="44823" x2="9333" y2="21560"/>
                        <a14:foregroundMark x1="11678" y1="58014" x2="3310" y2="77730"/>
                        <a14:foregroundMark x1="4276" y1="61560" x2="11356" y2="90780"/>
                        <a14:foregroundMark x1="14161" y1="81986" x2="7448" y2="66383"/>
                        <a14:foregroundMark x1="9103" y1="54326" x2="2943" y2="59858"/>
                        <a14:foregroundMark x1="3310" y1="62411" x2="2345" y2="69645"/>
                        <a14:foregroundMark x1="2345" y1="76170" x2="2943" y2="83121"/>
                        <a14:foregroundMark x1="5333" y1="86383" x2="8506" y2="91489"/>
                        <a14:foregroundMark x1="11356" y1="90780" x2="14161" y2="78440"/>
                        <a14:foregroundMark x1="14529" y1="75177" x2="13333" y2="59007"/>
                        <a14:foregroundMark x1="15494" y1="14894" x2="10621" y2="21560"/>
                        <a14:foregroundMark x1="10299" y1="26950" x2="10989" y2="39716"/>
                        <a14:foregroundMark x1="11586" y1="42695" x2="15816" y2="51064"/>
                        <a14:foregroundMark x1="23816" y1="55603" x2="20138" y2="62128"/>
                        <a14:foregroundMark x1="20736" y1="60851" x2="29747" y2="78440"/>
                        <a14:foregroundMark x1="18069" y1="21135" x2="21563" y2="33050"/>
                        <a14:foregroundMark x1="21057" y1="44823" x2="17563" y2="49220"/>
                        <a14:foregroundMark x1="18621" y1="46667" x2="20644" y2="52199"/>
                        <a14:foregroundMark x1="21057" y1="53617" x2="20920" y2="59858"/>
                        <a14:foregroundMark x1="7724" y1="49645" x2="4966" y2="53901"/>
                        <a14:backgroundMark x1="10023" y1="9787" x2="10023" y2="9787"/>
                        <a14:backgroundMark x1="4506" y1="34610" x2="4506" y2="34610"/>
                        <a14:backgroundMark x1="28736" y1="31064" x2="28736" y2="31064"/>
                        <a14:backgroundMark x1="17149" y1="90780" x2="17149" y2="90780"/>
                        <a14:backgroundMark x1="4368" y1="94043" x2="4368" y2="940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7422"/>
          <a:stretch/>
        </p:blipFill>
        <p:spPr>
          <a:xfrm>
            <a:off x="4930390" y="3604040"/>
            <a:ext cx="1023973" cy="1018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DCFABA11-CB97-10DC-B2DF-A484D840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2E77E19-A792-3069-0609-C765D0E87EC8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362C90ED-FBDC-723F-A092-E608043D5888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9E94D909-001F-975F-6855-8C0CA8738073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BE275D26-CF11-3353-DE00-9F29DAAAD5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6AC121C9-0053-7485-E4AB-0C8A7A7C4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CC2EC67C-AF46-13B2-112D-4044CFA101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ECBB46C-4FD2-5E27-5975-777A8E6196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2</a:t>
            </a:fld>
            <a:endParaRPr lang="zh-TW" altLang="en-US" dirty="0"/>
          </a:p>
        </p:txBody>
      </p:sp>
      <p:sp>
        <p:nvSpPr>
          <p:cNvPr id="11" name="Google Shape;2366;p43">
            <a:extLst>
              <a:ext uri="{FF2B5EF4-FFF2-40B4-BE49-F238E27FC236}">
                <a16:creationId xmlns:a16="http://schemas.microsoft.com/office/drawing/2014/main" id="{262FEBC9-31CC-02EC-3F04-52CE392E2D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sz="2400" baseline="30000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版面配置區 2">
            <a:extLst>
              <a:ext uri="{FF2B5EF4-FFF2-40B4-BE49-F238E27FC236}">
                <a16:creationId xmlns:a16="http://schemas.microsoft.com/office/drawing/2014/main" id="{3F2030E5-1E74-9850-C247-D7FBC48DBF10}"/>
              </a:ext>
            </a:extLst>
          </p:cNvPr>
          <p:cNvSpPr txBox="1">
            <a:spLocks/>
          </p:cNvSpPr>
          <p:nvPr/>
        </p:nvSpPr>
        <p:spPr>
          <a:xfrm>
            <a:off x="236422" y="766600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-342900"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Intrinsic Calibration</a:t>
            </a:r>
          </a:p>
          <a:p>
            <a:pPr indent="-342900"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  <a:p>
            <a:pPr indent="-342900"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LiDAR Comparison</a:t>
            </a:r>
          </a:p>
          <a:p>
            <a:pPr indent="-342900"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  <a:p>
            <a:pPr indent="-342900">
              <a:buClr>
                <a:srgbClr val="3D98DE"/>
              </a:buClr>
              <a:buFont typeface="Wingdings" panose="05000000000000000000" pitchFamily="2" charset="2"/>
              <a:buChar char="l"/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571500" lvl="1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30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2FD154DA-4E9E-D5A6-B01B-8A37BD86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B3791CF-CDA5-F797-625F-948919194495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B74DFA5D-C256-C540-05D2-6FEF1E576141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34D89570-0376-7C01-BF26-AB33C9286708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9F0C2EE8-9567-8304-FEDA-89115EE85B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A972CD41-3E12-A5BB-DCFA-56C7D5CC3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8697E5A1-5996-77F8-1429-F8464D7643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504583-A7DC-0594-D76C-F2F1F41BBD20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Intrinsic Calibration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Official </a:t>
            </a:r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ROS2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package </a:t>
            </a:r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  <a:hlinkClick r:id="rId7"/>
              </a:rPr>
              <a:t>camera_calibration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Camera driver: </a:t>
            </a:r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  <a:hlinkClick r:id="rId8"/>
              </a:rPr>
              <a:t>hik_camera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Last week: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以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7×9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的自印棋盤格嘗試標定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每格邊長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25 mm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)</a:t>
            </a: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可成功得到內參矩陣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未於牆上固定、棋盤格印製品質不佳可能影響標定結果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E5F4270-6134-C4F4-C74D-6ED012672D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1C901FCC-87D5-E4E1-B92E-F42620D676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Intrinsic Calibration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D8CEF060-0B1E-1134-26DE-5A5E538EBFB4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F67AB972-02A2-6954-ABB6-5B936518D378}"/>
              </a:ext>
            </a:extLst>
          </p:cNvPr>
          <p:cNvGrpSpPr/>
          <p:nvPr/>
        </p:nvGrpSpPr>
        <p:grpSpPr>
          <a:xfrm>
            <a:off x="3404165" y="3124217"/>
            <a:ext cx="5064525" cy="1932600"/>
            <a:chOff x="521027" y="2204873"/>
            <a:chExt cx="5513260" cy="2069426"/>
          </a:xfrm>
        </p:grpSpPr>
        <p:pic>
          <p:nvPicPr>
            <p:cNvPr id="14" name="圖片 13" descr="一張含有 螢幕擷取畫面, 多媒體軟體, 繪圖軟體, 軟體 的圖片&#10;&#10;AI 產生的內容可能不正確。">
              <a:extLst>
                <a:ext uri="{FF2B5EF4-FFF2-40B4-BE49-F238E27FC236}">
                  <a16:creationId xmlns:a16="http://schemas.microsoft.com/office/drawing/2014/main" id="{7CA09A05-ADF0-0C12-94D9-17ED1ECE0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0022" r="21189"/>
            <a:stretch>
              <a:fillRect/>
            </a:stretch>
          </p:blipFill>
          <p:spPr>
            <a:xfrm>
              <a:off x="521027" y="2204873"/>
              <a:ext cx="2645530" cy="2069426"/>
            </a:xfrm>
            <a:prstGeom prst="rect">
              <a:avLst/>
            </a:prstGeom>
          </p:spPr>
        </p:pic>
        <p:pic>
          <p:nvPicPr>
            <p:cNvPr id="20" name="圖片 19" descr="一張含有 螢幕擷取畫面, 多媒體軟體, 繪圖軟體, 軟體 的圖片&#10;&#10;AI 產生的內容可能不正確。">
              <a:extLst>
                <a:ext uri="{FF2B5EF4-FFF2-40B4-BE49-F238E27FC236}">
                  <a16:creationId xmlns:a16="http://schemas.microsoft.com/office/drawing/2014/main" id="{37CF542E-A96F-B102-A1BA-72F82F7A3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20927" t="1" r="20942" b="2038"/>
            <a:stretch>
              <a:fillRect/>
            </a:stretch>
          </p:blipFill>
          <p:spPr>
            <a:xfrm>
              <a:off x="3363970" y="2204873"/>
              <a:ext cx="2670317" cy="20694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563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181123EE-2C58-3FAE-0052-A0CE81A10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513401E-A8C8-6088-8C42-5CD67411FA0F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97B7875C-1AE8-D08A-43C9-2D526DF53D4E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137506E4-BC56-4215-221A-1D5C2839AC0E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CE7635BA-52BE-CED4-0B57-E9067F5562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3D484AAB-CEF0-DF32-20DC-CB40C47C1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B7B5A8EB-96C5-5961-EDF3-3FF29C9724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C26458-823E-BAF1-ACD2-A7C7AE62F21C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Intrinsic Calibration</a:t>
            </a: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This week: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以實驗室現有的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5×8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的棋盤格標定板進行標定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每格邊長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30 mm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)</a:t>
            </a: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啞光紙面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+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壓克力背板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固定於牆面上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得到可後續運用於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FAST-Calib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上的內參矩陣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571500" lvl="1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314450" lvl="2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EB6DEB9-3355-1C00-72B9-FCB3A09406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F52885CC-6F3C-30BF-8D7F-920FE7B8C9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Intrinsic Calibration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6ED60094-4945-A7B1-6B92-D2DFEA7C5D6F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1" name="圖片 10" descr="一張含有 文字, 棋, 圖板遊戲, 正方形 的圖片&#10;&#10;AI 產生的內容可能不正確。">
            <a:extLst>
              <a:ext uri="{FF2B5EF4-FFF2-40B4-BE49-F238E27FC236}">
                <a16:creationId xmlns:a16="http://schemas.microsoft.com/office/drawing/2014/main" id="{934D2C10-E94F-2A41-713B-4652482AD97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096" t="6922" r="22155" b="32066"/>
          <a:stretch>
            <a:fillRect/>
          </a:stretch>
        </p:blipFill>
        <p:spPr>
          <a:xfrm>
            <a:off x="5570220" y="1777162"/>
            <a:ext cx="2441647" cy="297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29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8407ABE-FB8D-CE78-6A28-910A1D5DA8F8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EC685194-F9B7-60D1-4185-A4FE1372DA7D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34AC41B5-083C-A158-2D6C-3AA14C8298F8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244F95E5-A8CF-514D-3286-71AC412BF4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D9003049-7FCE-C4CF-59D9-D74508C7A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88431988-1159-8B6B-4E5D-02E668D919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9E6589F-1E9D-F439-D4EC-58C7A8953222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System Overview:</a:t>
            </a: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Zheng, C., &amp; Zhang, F. (2025). FAST-Calib: LiDAR-Camera Extrinsic Calibration in One Second. </a:t>
            </a:r>
            <a:r>
              <a:rPr lang="en-US" altLang="zh-TW" sz="10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arXiv:2507.17210</a:t>
            </a:r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. https://</a:t>
            </a:r>
            <a:r>
              <a:rPr lang="en-US" altLang="zh-TW" sz="10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arxiv.org</a:t>
            </a:r>
            <a:r>
              <a:rPr lang="en-US" altLang="zh-TW" sz="10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/abs/2507.17210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133263A-151B-4B97-AD39-572BCE7DAF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CA36A47D-4295-47BC-97C0-B0C708162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D3F0BE8F-C57E-29AB-2139-B038E1FB80DB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3" name="圖片 12" descr="一張含有 文字, 螢幕擷取畫面, 千斤頂 的圖片&#10;&#10;AI 產生的內容可能不正確。">
            <a:extLst>
              <a:ext uri="{FF2B5EF4-FFF2-40B4-BE49-F238E27FC236}">
                <a16:creationId xmlns:a16="http://schemas.microsoft.com/office/drawing/2014/main" id="{79B0565F-CC36-71B5-40D1-9ED011A7B23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328"/>
          <a:stretch>
            <a:fillRect/>
          </a:stretch>
        </p:blipFill>
        <p:spPr>
          <a:xfrm>
            <a:off x="666940" y="1239471"/>
            <a:ext cx="6983188" cy="2910242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7329A33D-F1C2-F1BA-5729-0D661E2039B0}"/>
              </a:ext>
            </a:extLst>
          </p:cNvPr>
          <p:cNvSpPr txBox="1"/>
          <p:nvPr/>
        </p:nvSpPr>
        <p:spPr>
          <a:xfrm>
            <a:off x="3287437" y="1100970"/>
            <a:ext cx="2337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RANSAC to</a:t>
            </a:r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biggest</a:t>
            </a:r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plane</a:t>
            </a:r>
            <a:endParaRPr lang="zh-TW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3E999D90-F38B-D8B3-82BA-3E0F44438302}"/>
                  </a:ext>
                </a:extLst>
              </p:cNvPr>
              <p:cNvSpPr txBox="1"/>
              <p:nvPr/>
            </p:nvSpPr>
            <p:spPr>
              <a:xfrm>
                <a:off x="6825584" y="1723529"/>
                <a:ext cx="4087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3E999D90-F38B-D8B3-82BA-3E0F44438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584" y="1723529"/>
                <a:ext cx="408765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091DDF88-B9D5-81E8-5F02-98CCC9C1F234}"/>
                  </a:ext>
                </a:extLst>
              </p:cNvPr>
              <p:cNvSpPr txBox="1"/>
              <p:nvPr/>
            </p:nvSpPr>
            <p:spPr>
              <a:xfrm>
                <a:off x="6815325" y="3130910"/>
                <a:ext cx="4190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091DDF88-B9D5-81E8-5F02-98CCC9C1F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325" y="3130910"/>
                <a:ext cx="419024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>
            <a:extLst>
              <a:ext uri="{FF2B5EF4-FFF2-40B4-BE49-F238E27FC236}">
                <a16:creationId xmlns:a16="http://schemas.microsoft.com/office/drawing/2014/main" id="{7E20850C-DCB9-F6DD-33FE-DB68B47B3635}"/>
              </a:ext>
            </a:extLst>
          </p:cNvPr>
          <p:cNvSpPr txBox="1"/>
          <p:nvPr/>
        </p:nvSpPr>
        <p:spPr>
          <a:xfrm>
            <a:off x="7448390" y="2450176"/>
            <a:ext cx="1359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Kabsch+SVD</a:t>
            </a:r>
            <a:endParaRPr lang="en-US" altLang="zh-TW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(rigid registration)</a:t>
            </a:r>
            <a:endParaRPr lang="zh-TW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51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9D6658E3-B357-A4F5-091C-89F526DB8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108447C-354D-1CFF-F9EA-A6D07DDF880C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7B7C00A8-F33C-3077-D1DC-38798F6DC8F4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5325F6A8-7961-8E5B-5EC3-54B300208474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2D15C292-2A04-C624-069B-795B2E9AEB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1C6C744A-6DBF-8146-6F9D-4D55B27B7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765671B5-8B64-6AD8-6245-DB3A172ECD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8C3E2C-67C0-1944-CB55-C50E557CD445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標定板尺寸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:1400 mm * 1000 mm</a:t>
            </a: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材質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壓克力板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厚度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5 mm) +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道林紙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(</a:t>
            </a:r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150p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)</a:t>
            </a:r>
          </a:p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38E2D58-0616-E730-D4AB-44BBB374B2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6DE067B8-CEAF-9CB7-F9D7-E2730B8D57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8B6EFC8-264A-9795-68BF-51B742D752BB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1" name="圖片 10" descr="一張含有 圖表, 圓形, 工程製圖, 行 的圖片&#10;&#10;AI 產生的內容可能不正確。">
            <a:extLst>
              <a:ext uri="{FF2B5EF4-FFF2-40B4-BE49-F238E27FC236}">
                <a16:creationId xmlns:a16="http://schemas.microsoft.com/office/drawing/2014/main" id="{16252A85-CF51-0428-38BF-9B9CF56AFB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2931" y="1431236"/>
            <a:ext cx="4302005" cy="2843064"/>
          </a:xfrm>
          <a:prstGeom prst="rect">
            <a:avLst/>
          </a:prstGeom>
        </p:spPr>
      </p:pic>
      <p:pic>
        <p:nvPicPr>
          <p:cNvPr id="15" name="圖片 14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05427A55-0CBA-11ED-7719-7A6DDED065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861" y="1701793"/>
            <a:ext cx="3448402" cy="24636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597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76648E3B-6D41-6E08-9598-6390EA80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D3250CF-7AA3-4C8F-F65A-AE3603900D6D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EB9E05A3-5D80-7ABB-4CBD-0BC5E9C55028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163F3572-75E9-9123-A6CD-4FA5F3611BAA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37DC8D28-66DB-9945-78BE-31B5D19332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F1250723-8359-2B9A-E261-3AA38EDFA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A8670A5C-713E-A65E-BB52-560E94D503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CC5C1A82-50E1-C30C-15D8-E2EE6D3120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651" y="711373"/>
                <a:ext cx="7395829" cy="3978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400050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Camera Data Processing:</a:t>
                </a: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偵測四個在板上固定位置的</a:t>
                </a:r>
                <a:r>
                  <a:rPr lang="en-US" altLang="zh-TW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ArUco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marker</a:t>
                </a:r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已知資訊：相機內參矩陣、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marker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的真實尺寸與位置、 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marker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在影像裡的</a:t>
                </a:r>
                <a:r>
                  <a:rPr lang="en-US" altLang="zh-TW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2D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投影→ 算出標定板在相機座標系的位置與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pose</a:t>
                </a: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推算出在相機座標系下四個圓孔的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3D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座標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得到相機偵測到的圓孔中心點集合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CC5C1A82-50E1-C30C-15D8-E2EE6D312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1" y="711373"/>
                <a:ext cx="7395829" cy="39787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477283A-C5CB-702D-63F1-052AC6B55D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91A6EF89-16B5-C6DD-72E1-B06C67A439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05BE5A2-E958-40EB-2A1B-E5CF3B4569CD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片 9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FAC6E4F4-DBD3-D790-D60A-87997AC0C7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952" y="2938439"/>
            <a:ext cx="2340617" cy="16721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圖片 13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5C6EA0AE-59FC-A8D2-0916-79A4C1E901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9433" y="2933598"/>
            <a:ext cx="2340617" cy="16721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圖片 14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AB599F07-4EBF-199D-4427-62FD7A9A00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8059" y="2933598"/>
            <a:ext cx="2340617" cy="16721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4FF3FDEC-E9E3-6674-3E99-C3571E89470D}"/>
              </a:ext>
            </a:extLst>
          </p:cNvPr>
          <p:cNvSpPr/>
          <p:nvPr/>
        </p:nvSpPr>
        <p:spPr>
          <a:xfrm>
            <a:off x="373380" y="3025140"/>
            <a:ext cx="331944" cy="31117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CFFE88-DAD2-85FF-A631-719B6D82D359}"/>
              </a:ext>
            </a:extLst>
          </p:cNvPr>
          <p:cNvSpPr/>
          <p:nvPr/>
        </p:nvSpPr>
        <p:spPr>
          <a:xfrm>
            <a:off x="365760" y="4198620"/>
            <a:ext cx="331944" cy="31117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78DBCF-EC28-BD61-AB95-AF8505527D65}"/>
              </a:ext>
            </a:extLst>
          </p:cNvPr>
          <p:cNvSpPr/>
          <p:nvPr/>
        </p:nvSpPr>
        <p:spPr>
          <a:xfrm>
            <a:off x="2217420" y="3032760"/>
            <a:ext cx="331944" cy="31117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53BAA44-BD95-B839-9F70-BB57694DA516}"/>
              </a:ext>
            </a:extLst>
          </p:cNvPr>
          <p:cNvSpPr/>
          <p:nvPr/>
        </p:nvSpPr>
        <p:spPr>
          <a:xfrm>
            <a:off x="2217420" y="4198620"/>
            <a:ext cx="331944" cy="31117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F2D28538-2EB0-C9A6-8503-900DA67D0A2A}"/>
              </a:ext>
            </a:extLst>
          </p:cNvPr>
          <p:cNvSpPr/>
          <p:nvPr/>
        </p:nvSpPr>
        <p:spPr>
          <a:xfrm>
            <a:off x="365760" y="30251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053AC7D-F111-B215-1C7C-18020CC6AB01}"/>
              </a:ext>
            </a:extLst>
          </p:cNvPr>
          <p:cNvSpPr/>
          <p:nvPr/>
        </p:nvSpPr>
        <p:spPr>
          <a:xfrm>
            <a:off x="2209800" y="30251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C4B11809-0A35-2C42-D69C-525C8C3A8490}"/>
              </a:ext>
            </a:extLst>
          </p:cNvPr>
          <p:cNvSpPr/>
          <p:nvPr/>
        </p:nvSpPr>
        <p:spPr>
          <a:xfrm>
            <a:off x="2217420" y="418338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DEFFC669-B7BA-A81E-A9AE-BCE78F0FE5E3}"/>
              </a:ext>
            </a:extLst>
          </p:cNvPr>
          <p:cNvSpPr/>
          <p:nvPr/>
        </p:nvSpPr>
        <p:spPr>
          <a:xfrm>
            <a:off x="365760" y="418338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F2A95731-DE0C-5D53-AB2E-9BDDEBB32FED}"/>
              </a:ext>
            </a:extLst>
          </p:cNvPr>
          <p:cNvSpPr txBox="1"/>
          <p:nvPr/>
        </p:nvSpPr>
        <p:spPr>
          <a:xfrm>
            <a:off x="272845" y="2700735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id=1</a:t>
            </a:r>
            <a:endParaRPr lang="zh-TW" altLang="en-US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EB24BCB-7ED5-C07D-3DAC-A2E6AF89B53E}"/>
              </a:ext>
            </a:extLst>
          </p:cNvPr>
          <p:cNvSpPr txBox="1"/>
          <p:nvPr/>
        </p:nvSpPr>
        <p:spPr>
          <a:xfrm>
            <a:off x="2124055" y="2691814"/>
            <a:ext cx="527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id=2</a:t>
            </a:r>
            <a:endParaRPr lang="zh-TW" altLang="en-US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0E10083-6E8F-9B8C-B00C-1ACEE4509210}"/>
              </a:ext>
            </a:extLst>
          </p:cNvPr>
          <p:cNvSpPr txBox="1"/>
          <p:nvPr/>
        </p:nvSpPr>
        <p:spPr>
          <a:xfrm>
            <a:off x="250803" y="3886664"/>
            <a:ext cx="527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id=3</a:t>
            </a:r>
            <a:endParaRPr lang="zh-TW" altLang="en-US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A28E474-82A3-9C1F-A5A1-5591F3CCF419}"/>
              </a:ext>
            </a:extLst>
          </p:cNvPr>
          <p:cNvSpPr txBox="1"/>
          <p:nvPr/>
        </p:nvSpPr>
        <p:spPr>
          <a:xfrm>
            <a:off x="2094624" y="3879044"/>
            <a:ext cx="527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id=4</a:t>
            </a:r>
            <a:endParaRPr lang="zh-TW" altLang="en-US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1FCD612-B25E-9828-A770-C2659B6E20C5}"/>
              </a:ext>
            </a:extLst>
          </p:cNvPr>
          <p:cNvCxnSpPr/>
          <p:nvPr/>
        </p:nvCxnSpPr>
        <p:spPr>
          <a:xfrm flipV="1">
            <a:off x="4351020" y="3188347"/>
            <a:ext cx="0" cy="581343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3E2B95C3-5DF1-B8F3-A728-340D8802291C}"/>
              </a:ext>
            </a:extLst>
          </p:cNvPr>
          <p:cNvCxnSpPr>
            <a:cxnSpLocks/>
          </p:cNvCxnSpPr>
          <p:nvPr/>
        </p:nvCxnSpPr>
        <p:spPr>
          <a:xfrm flipV="1">
            <a:off x="4351020" y="3577292"/>
            <a:ext cx="0" cy="18477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86CEBA25-9ACD-2EFF-B395-ADC6087F9035}"/>
              </a:ext>
            </a:extLst>
          </p:cNvPr>
          <p:cNvCxnSpPr>
            <a:cxnSpLocks/>
          </p:cNvCxnSpPr>
          <p:nvPr/>
        </p:nvCxnSpPr>
        <p:spPr>
          <a:xfrm>
            <a:off x="4335780" y="3762070"/>
            <a:ext cx="54102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609A3729-4C1E-0F3C-FAEA-A04AF2B447A1}"/>
              </a:ext>
            </a:extLst>
          </p:cNvPr>
          <p:cNvCxnSpPr>
            <a:cxnSpLocks/>
          </p:cNvCxnSpPr>
          <p:nvPr/>
        </p:nvCxnSpPr>
        <p:spPr>
          <a:xfrm flipV="1">
            <a:off x="3426785" y="2845702"/>
            <a:ext cx="0" cy="35026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39A8F82E-7128-B677-72E9-7EE3ABFC499E}"/>
              </a:ext>
            </a:extLst>
          </p:cNvPr>
          <p:cNvCxnSpPr>
            <a:cxnSpLocks/>
          </p:cNvCxnSpPr>
          <p:nvPr/>
        </p:nvCxnSpPr>
        <p:spPr>
          <a:xfrm flipV="1">
            <a:off x="3426785" y="3047999"/>
            <a:ext cx="0" cy="1403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34A162E6-D5FA-FF96-6F4B-9364550C7E69}"/>
              </a:ext>
            </a:extLst>
          </p:cNvPr>
          <p:cNvCxnSpPr>
            <a:cxnSpLocks/>
          </p:cNvCxnSpPr>
          <p:nvPr/>
        </p:nvCxnSpPr>
        <p:spPr>
          <a:xfrm flipV="1">
            <a:off x="3411545" y="3180727"/>
            <a:ext cx="291775" cy="76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EF66F6E4-0560-AFF6-2E58-563A64FC4DC1}"/>
              </a:ext>
            </a:extLst>
          </p:cNvPr>
          <p:cNvCxnSpPr>
            <a:cxnSpLocks/>
          </p:cNvCxnSpPr>
          <p:nvPr/>
        </p:nvCxnSpPr>
        <p:spPr>
          <a:xfrm flipV="1">
            <a:off x="5263515" y="2866844"/>
            <a:ext cx="0" cy="35026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26B5C240-DD80-D1D8-B85B-CAFC16964456}"/>
              </a:ext>
            </a:extLst>
          </p:cNvPr>
          <p:cNvCxnSpPr>
            <a:cxnSpLocks/>
          </p:cNvCxnSpPr>
          <p:nvPr/>
        </p:nvCxnSpPr>
        <p:spPr>
          <a:xfrm flipV="1">
            <a:off x="5263515" y="3069141"/>
            <a:ext cx="0" cy="1403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7EC8FF0B-C159-1A02-C5B4-2885A569A3E6}"/>
              </a:ext>
            </a:extLst>
          </p:cNvPr>
          <p:cNvCxnSpPr>
            <a:cxnSpLocks/>
          </p:cNvCxnSpPr>
          <p:nvPr/>
        </p:nvCxnSpPr>
        <p:spPr>
          <a:xfrm flipV="1">
            <a:off x="5248275" y="3201869"/>
            <a:ext cx="291775" cy="76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3694EABB-7402-35C7-7836-C15812D4724A}"/>
              </a:ext>
            </a:extLst>
          </p:cNvPr>
          <p:cNvCxnSpPr>
            <a:cxnSpLocks/>
          </p:cNvCxnSpPr>
          <p:nvPr/>
        </p:nvCxnSpPr>
        <p:spPr>
          <a:xfrm flipV="1">
            <a:off x="3426785" y="4026802"/>
            <a:ext cx="0" cy="35026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D949E6C8-4506-52CA-4F00-CCC80BEB2B9F}"/>
              </a:ext>
            </a:extLst>
          </p:cNvPr>
          <p:cNvCxnSpPr>
            <a:cxnSpLocks/>
          </p:cNvCxnSpPr>
          <p:nvPr/>
        </p:nvCxnSpPr>
        <p:spPr>
          <a:xfrm flipV="1">
            <a:off x="3426785" y="4229099"/>
            <a:ext cx="0" cy="1403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8D0C81E2-12B3-C76D-C194-4F9056DBA8F7}"/>
              </a:ext>
            </a:extLst>
          </p:cNvPr>
          <p:cNvCxnSpPr>
            <a:cxnSpLocks/>
          </p:cNvCxnSpPr>
          <p:nvPr/>
        </p:nvCxnSpPr>
        <p:spPr>
          <a:xfrm flipV="1">
            <a:off x="3411545" y="4361827"/>
            <a:ext cx="291775" cy="76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24834363-0B4A-7138-7C4B-2E032842F4F9}"/>
              </a:ext>
            </a:extLst>
          </p:cNvPr>
          <p:cNvCxnSpPr>
            <a:cxnSpLocks/>
          </p:cNvCxnSpPr>
          <p:nvPr/>
        </p:nvCxnSpPr>
        <p:spPr>
          <a:xfrm flipV="1">
            <a:off x="5263515" y="4042042"/>
            <a:ext cx="0" cy="35026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A5D3DDFD-99AE-5D9A-2933-DB4BFE0EC103}"/>
              </a:ext>
            </a:extLst>
          </p:cNvPr>
          <p:cNvCxnSpPr>
            <a:cxnSpLocks/>
          </p:cNvCxnSpPr>
          <p:nvPr/>
        </p:nvCxnSpPr>
        <p:spPr>
          <a:xfrm flipV="1">
            <a:off x="5263515" y="4244339"/>
            <a:ext cx="0" cy="1403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9C4F6BF-1F16-50B0-B41D-56CB2E75CE73}"/>
              </a:ext>
            </a:extLst>
          </p:cNvPr>
          <p:cNvCxnSpPr>
            <a:cxnSpLocks/>
          </p:cNvCxnSpPr>
          <p:nvPr/>
        </p:nvCxnSpPr>
        <p:spPr>
          <a:xfrm flipV="1">
            <a:off x="5248275" y="4377067"/>
            <a:ext cx="291775" cy="76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64E58033-1387-F895-3754-9A37952E3E0C}"/>
              </a:ext>
            </a:extLst>
          </p:cNvPr>
          <p:cNvCxnSpPr/>
          <p:nvPr/>
        </p:nvCxnSpPr>
        <p:spPr>
          <a:xfrm>
            <a:off x="2750820" y="3818271"/>
            <a:ext cx="320040" cy="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4BA4FABC-2994-A5D3-7382-B108B1799422}"/>
              </a:ext>
            </a:extLst>
          </p:cNvPr>
          <p:cNvCxnSpPr/>
          <p:nvPr/>
        </p:nvCxnSpPr>
        <p:spPr>
          <a:xfrm>
            <a:off x="5684520" y="3834162"/>
            <a:ext cx="320040" cy="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>
            <a:extLst>
              <a:ext uri="{FF2B5EF4-FFF2-40B4-BE49-F238E27FC236}">
                <a16:creationId xmlns:a16="http://schemas.microsoft.com/office/drawing/2014/main" id="{6FF529F5-78CA-63BF-7FA8-AC0C8EEB1751}"/>
              </a:ext>
            </a:extLst>
          </p:cNvPr>
          <p:cNvSpPr/>
          <p:nvPr/>
        </p:nvSpPr>
        <p:spPr>
          <a:xfrm>
            <a:off x="6819900" y="340281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7ACF7264-4DAF-831F-E6EB-80881E9BDB70}"/>
              </a:ext>
            </a:extLst>
          </p:cNvPr>
          <p:cNvSpPr/>
          <p:nvPr/>
        </p:nvSpPr>
        <p:spPr>
          <a:xfrm>
            <a:off x="7658100" y="341043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橢圓 67">
            <a:extLst>
              <a:ext uri="{FF2B5EF4-FFF2-40B4-BE49-F238E27FC236}">
                <a16:creationId xmlns:a16="http://schemas.microsoft.com/office/drawing/2014/main" id="{99828677-9CDB-E8D2-0DB1-9A13D1E6D35D}"/>
              </a:ext>
            </a:extLst>
          </p:cNvPr>
          <p:cNvSpPr/>
          <p:nvPr/>
        </p:nvSpPr>
        <p:spPr>
          <a:xfrm>
            <a:off x="7658100" y="407337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橢圓 68">
            <a:extLst>
              <a:ext uri="{FF2B5EF4-FFF2-40B4-BE49-F238E27FC236}">
                <a16:creationId xmlns:a16="http://schemas.microsoft.com/office/drawing/2014/main" id="{AD94F441-EFB1-D0AE-1CE3-60C4995E59C6}"/>
              </a:ext>
            </a:extLst>
          </p:cNvPr>
          <p:cNvSpPr/>
          <p:nvPr/>
        </p:nvSpPr>
        <p:spPr>
          <a:xfrm>
            <a:off x="6819900" y="408099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AFDC506-8B02-AC6F-C198-F8AF61388212}"/>
                  </a:ext>
                </a:extLst>
              </p:cNvPr>
              <p:cNvSpPr txBox="1"/>
              <p:nvPr/>
            </p:nvSpPr>
            <p:spPr>
              <a:xfrm>
                <a:off x="7092680" y="3028537"/>
                <a:ext cx="4190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AFDC506-8B02-AC6F-C198-F8AF61388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680" y="3028537"/>
                <a:ext cx="419025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42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1C8E5E33-9BA1-86E3-3FC6-A4831BC5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E74A7F2-44FA-52D2-C96A-F806A654F056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6CEDE018-F145-8BA0-11DE-E473D43D121F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4525835B-E741-7390-7438-A9D12E15228B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A86DBE65-0398-19E3-4AD2-222DDB80DB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284F37B9-6606-02E1-A356-EAC330521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688293EB-239C-51F8-2DED-DE52861E91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AF491DD-080C-1783-D729-C4693AE95D1A}"/>
              </a:ext>
            </a:extLst>
          </p:cNvPr>
          <p:cNvSpPr txBox="1">
            <a:spLocks/>
          </p:cNvSpPr>
          <p:nvPr/>
        </p:nvSpPr>
        <p:spPr>
          <a:xfrm>
            <a:off x="230703" y="751193"/>
            <a:ext cx="739582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LiDAR Data Processing:</a:t>
            </a:r>
          </a:p>
          <a:p>
            <a:pPr lvl="1"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+mj-lt"/>
              <a:buAutoNum type="arabicPeriod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ROI Extraction</a:t>
            </a:r>
          </a:p>
          <a:p>
            <a:pPr marL="1200150" lvl="2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Times New Roman" panose="02020603050405020304" pitchFamily="18" charset="0"/>
              <a:buChar char="○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三軸上的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Pass-through filter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：粗略濾掉不必要的點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200150" lvl="2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Times New Roman" panose="02020603050405020304" pitchFamily="18" charset="0"/>
              <a:buChar char="○"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RANSAC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做平面分割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657350" lvl="3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Wingdings" panose="05000000000000000000" pitchFamily="2" charset="2"/>
              <a:buChar char="n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隨機取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個點形成一平面，找到具有距離該平面</a:t>
            </a:r>
            <a:r>
              <a:rPr lang="en-US" altLang="zh-TW" b="1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0.01m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內最多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inliers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的平面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	</a:t>
            </a: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146A22A-9A3C-6AF6-6AD2-E72000B779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053BB78B-9D8C-CDF8-78D7-C732873CA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FBA3E46-0C2B-81EF-5B37-5E446F0EE170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片 9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5943359A-48C2-E363-6B50-01F429A162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6753" y="3004461"/>
            <a:ext cx="1916783" cy="13693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C31EF359-4B1C-B653-522D-938C64DFE2F0}"/>
              </a:ext>
            </a:extLst>
          </p:cNvPr>
          <p:cNvSpPr/>
          <p:nvPr/>
        </p:nvSpPr>
        <p:spPr>
          <a:xfrm>
            <a:off x="1103235" y="2691710"/>
            <a:ext cx="2804198" cy="195203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保留標定板所在的平面點雲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19EA577-59C0-E0F9-9108-7181DB401DFD}"/>
              </a:ext>
            </a:extLst>
          </p:cNvPr>
          <p:cNvSpPr txBox="1"/>
          <p:nvPr/>
        </p:nvSpPr>
        <p:spPr>
          <a:xfrm>
            <a:off x="1925705" y="2355054"/>
            <a:ext cx="1520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accent2">
                    <a:lumMod val="75000"/>
                  </a:schemeClr>
                </a:solidFill>
              </a:rPr>
              <a:t>原始掃描區域</a:t>
            </a:r>
          </a:p>
        </p:txBody>
      </p: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3D5FDE51-223F-2384-A4AF-C174E0053115}"/>
              </a:ext>
            </a:extLst>
          </p:cNvPr>
          <p:cNvCxnSpPr/>
          <p:nvPr/>
        </p:nvCxnSpPr>
        <p:spPr>
          <a:xfrm>
            <a:off x="4251960" y="3627771"/>
            <a:ext cx="320040" cy="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1EBC3129-20A7-126C-93A8-420EDC5DAAE1}"/>
              </a:ext>
            </a:extLst>
          </p:cNvPr>
          <p:cNvSpPr/>
          <p:nvPr/>
        </p:nvSpPr>
        <p:spPr>
          <a:xfrm>
            <a:off x="1382219" y="2899999"/>
            <a:ext cx="2159953" cy="15849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保留標定板所在的平面點雲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75CC0CA-CC81-9E99-5786-EC641825D52B}"/>
              </a:ext>
            </a:extLst>
          </p:cNvPr>
          <p:cNvSpPr txBox="1"/>
          <p:nvPr/>
        </p:nvSpPr>
        <p:spPr>
          <a:xfrm>
            <a:off x="1820110" y="2658111"/>
            <a:ext cx="2886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切割後的點雲區域</a:t>
            </a:r>
          </a:p>
        </p:txBody>
      </p:sp>
      <p:pic>
        <p:nvPicPr>
          <p:cNvPr id="19" name="圖片 18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20D8CEF2-BE99-76A1-F8C5-E6A54C4232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0413" y="3025319"/>
            <a:ext cx="1916783" cy="13693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605F89CB-48F9-0191-208C-E39CAD120B06}"/>
              </a:ext>
            </a:extLst>
          </p:cNvPr>
          <p:cNvSpPr/>
          <p:nvPr/>
        </p:nvSpPr>
        <p:spPr>
          <a:xfrm>
            <a:off x="4935879" y="2920857"/>
            <a:ext cx="2159953" cy="15849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保留標定板所在的平面點雲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356C913-D1FA-5212-AED5-B8773D0E414A}"/>
              </a:ext>
            </a:extLst>
          </p:cNvPr>
          <p:cNvSpPr txBox="1"/>
          <p:nvPr/>
        </p:nvSpPr>
        <p:spPr>
          <a:xfrm>
            <a:off x="5207034" y="2586884"/>
            <a:ext cx="2886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切割後的點雲區域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C98280-CEA9-9AC3-8D28-F7099703FCF9}"/>
              </a:ext>
            </a:extLst>
          </p:cNvPr>
          <p:cNvSpPr/>
          <p:nvPr/>
        </p:nvSpPr>
        <p:spPr>
          <a:xfrm>
            <a:off x="5040413" y="3005539"/>
            <a:ext cx="1916783" cy="13981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保留標定板所在的平面點雲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CFA0D48-5F25-6E91-26B0-8240F60B00F1}"/>
              </a:ext>
            </a:extLst>
          </p:cNvPr>
          <p:cNvSpPr txBox="1"/>
          <p:nvPr/>
        </p:nvSpPr>
        <p:spPr>
          <a:xfrm>
            <a:off x="5177466" y="3550722"/>
            <a:ext cx="2886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RANSAC</a:t>
            </a:r>
            <a:r>
              <a:rPr lang="zh-TW" altLang="en-US" dirty="0">
                <a:solidFill>
                  <a:srgbClr val="0000FF"/>
                </a:solidFill>
              </a:rPr>
              <a:t>取的平面</a:t>
            </a:r>
          </a:p>
        </p:txBody>
      </p:sp>
    </p:spTree>
    <p:extLst>
      <p:ext uri="{BB962C8B-B14F-4D97-AF65-F5344CB8AC3E}">
        <p14:creationId xmlns:p14="http://schemas.microsoft.com/office/powerpoint/2010/main" val="205596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3C7E9F9D-13F0-E8D6-8E01-A84FD0BE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2923B8-087C-AFE4-4D69-3CD68ED5D944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DF0DFD2C-C8D1-8577-7002-84405E9EDA4B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1F30F551-5233-A7C3-A213-8941A6BFDA18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2659E7D6-DA94-203B-0A36-53F9D9A95D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0C886D97-F38E-41B8-B40C-87715AA89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66EC8E8B-82CA-0A23-DD1E-107C5F1CE9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1B3D186-FA68-9F58-9DE2-6D394057EC78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761680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LiDAR Data Processing:</a:t>
            </a:r>
          </a:p>
          <a:p>
            <a:pPr lvl="1"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+mj-lt"/>
              <a:buAutoNum type="arabicPeriod" startAt="2"/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Hole Edge &amp; Center Extraction</a:t>
            </a:r>
          </a:p>
          <a:p>
            <a:pPr marL="1200150" lvl="2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Times New Roman" panose="02020603050405020304" pitchFamily="18" charset="0"/>
              <a:buChar char="○"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Voxel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downsampling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 把點雲用邊長</a:t>
            </a:r>
            <a:r>
              <a:rPr lang="en-US" altLang="zh-TW" b="1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8mm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的立方體格子切分，每個小格取一個代表點。</a:t>
            </a:r>
          </a:p>
          <a:p>
            <a:pPr marL="1657350" lvl="3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Wingdings" panose="05000000000000000000" pitchFamily="2" charset="2"/>
              <a:buChar char="n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目的：減少點雲數、降低計算量，同時保留整體幾何形狀。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200150" lvl="2" indent="-1714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Times New Roman" panose="02020603050405020304" pitchFamily="18" charset="0"/>
              <a:buChar char="○"/>
            </a:pP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Plane alignment: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把剛才找出的標定板平面旋轉對齊到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z=0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平面，從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3D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轉成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2D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D02DFA0-1D45-56CC-EEF6-869F05A91A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5D29E318-83F5-06B0-43B0-1EF3AB094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464497B-98C4-6393-6966-9F77A0ACC6D2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4" name="圖片 13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466A4E5C-5E05-65CD-41E3-057E75C31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3160" y="2481732"/>
            <a:ext cx="3299943" cy="23575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C6F36687-9B72-D050-C7B6-F837E109F4BD}"/>
              </a:ext>
            </a:extLst>
          </p:cNvPr>
          <p:cNvSpPr txBox="1"/>
          <p:nvPr/>
        </p:nvSpPr>
        <p:spPr>
          <a:xfrm>
            <a:off x="3351069" y="3506616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z=0</a:t>
            </a:r>
            <a:endParaRPr lang="zh-TW" altLang="en-US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7105ED59-0C40-BEAB-EC7F-D2DB51D8FD77}"/>
              </a:ext>
            </a:extLst>
          </p:cNvPr>
          <p:cNvCxnSpPr>
            <a:cxnSpLocks/>
          </p:cNvCxnSpPr>
          <p:nvPr/>
        </p:nvCxnSpPr>
        <p:spPr>
          <a:xfrm>
            <a:off x="4073131" y="2982822"/>
            <a:ext cx="0" cy="763679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DCF9BE0-1CF4-1157-781B-85E7F0AAAF49}"/>
              </a:ext>
            </a:extLst>
          </p:cNvPr>
          <p:cNvCxnSpPr>
            <a:cxnSpLocks/>
          </p:cNvCxnSpPr>
          <p:nvPr/>
        </p:nvCxnSpPr>
        <p:spPr>
          <a:xfrm>
            <a:off x="4063055" y="3738881"/>
            <a:ext cx="7627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27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5FF3D105-7527-2AC6-66BE-5DDFAAEDA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1E83B21-AC80-8027-097C-123358F586B4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7FAFC835-2919-BE3F-A469-510105124092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9626A599-50F8-EB2E-AEC3-ABAA8452AE8C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1F4CC900-FFA2-049F-5A5D-9948FC4057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D26A4785-96AC-80C5-8FD4-FA61345CE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A9014F6B-9CF3-6378-56F5-5870EC7D71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6FA20450-245D-6FD7-FB3B-9C5FECCCFB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651" y="673809"/>
                <a:ext cx="7616809" cy="3978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400050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LiDAR Data Processing:</a:t>
                </a: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 startAt="2"/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Hole Edge &amp; Center Extraction</a:t>
                </a:r>
              </a:p>
              <a:p>
                <a:pPr marL="1200150" lvl="2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Times New Roman" panose="02020603050405020304" pitchFamily="18" charset="0"/>
                  <a:buChar char="○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判斷是否為圓孔邊緣點</a:t>
                </a: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對每個點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找出半徑 </a:t>
                </a:r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0.03 m 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範圍內的鄰近點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</m:sub>
                    </m:sSub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計算它們相對於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的方位角：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</m:sub>
                    </m:sSub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atan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2(</m:t>
                    </m:r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sub>
                    </m:sSub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 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   </a:t>
                </a: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把所有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依大小排序，得到：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≤⋯≤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計算相鄰角度差：</a:t>
                </a:r>
                <a:r>
                  <a:rPr lang="en-US" altLang="zh-TW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sub>
                    </m:sSub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k</m:t>
                            </m:r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sub>
                    </m:sSub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for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485900" lvl="3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	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+2</m:t>
                        </m:r>
                        <m:r>
                          <a:rPr lang="zh-TW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如果最大間</a:t>
                </a:r>
                <a14:m>
                  <m:oMath xmlns:m="http://schemas.openxmlformats.org/officeDocument/2006/math">
                    <m:r>
                      <a:rPr lang="zh-TW" alt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隔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</m:sub>
                    </m:sSub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𝟐𝟓</m:t>
                    </m:r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  <m:r>
                      <a:rPr lang="zh-TW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，則此點在該方</m:t>
                    </m:r>
                    <m:r>
                      <a:rPr lang="zh-TW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位</m:t>
                    </m:r>
                  </m:oMath>
                </a14:m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無鄰近點→此點為邊緣點</a:t>
                </a:r>
              </a:p>
              <a:p>
                <a:pPr marL="1028700" lvl="2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6FA20450-245D-6FD7-FB3B-9C5FECCCF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1" y="673809"/>
                <a:ext cx="7616809" cy="39787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0CD7AFA-6ACB-0534-615C-4AFF647CB4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59A69D66-A2E7-FFE5-B20F-2221497BFB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7E169D1F-21DE-17D2-A155-5C20F16BC091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BA6C975-F262-60FC-BDDA-ED8F8339B520}"/>
              </a:ext>
            </a:extLst>
          </p:cNvPr>
          <p:cNvSpPr txBox="1"/>
          <p:nvPr/>
        </p:nvSpPr>
        <p:spPr>
          <a:xfrm>
            <a:off x="4126230" y="2114550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49D56FAF-9FA7-5858-D39C-69487F231FE6}"/>
              </a:ext>
            </a:extLst>
          </p:cNvPr>
          <p:cNvSpPr/>
          <p:nvPr/>
        </p:nvSpPr>
        <p:spPr>
          <a:xfrm>
            <a:off x="7219950" y="19964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92B2934-8E50-3C51-B70C-511BD837BEC2}"/>
                  </a:ext>
                </a:extLst>
              </p:cNvPr>
              <p:cNvSpPr txBox="1"/>
              <p:nvPr/>
            </p:nvSpPr>
            <p:spPr>
              <a:xfrm>
                <a:off x="7181850" y="1989998"/>
                <a:ext cx="3844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92B2934-8E50-3C51-B70C-511BD837B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850" y="1989998"/>
                <a:ext cx="384464" cy="307777"/>
              </a:xfrm>
              <a:prstGeom prst="rect">
                <a:avLst/>
              </a:prstGeom>
              <a:blipFill>
                <a:blip r:embed="rId8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橢圓 17">
            <a:extLst>
              <a:ext uri="{FF2B5EF4-FFF2-40B4-BE49-F238E27FC236}">
                <a16:creationId xmlns:a16="http://schemas.microsoft.com/office/drawing/2014/main" id="{5E52181E-6BD3-C282-FBA7-ABDED7687401}"/>
              </a:ext>
            </a:extLst>
          </p:cNvPr>
          <p:cNvSpPr/>
          <p:nvPr/>
        </p:nvSpPr>
        <p:spPr>
          <a:xfrm>
            <a:off x="6398173" y="1238249"/>
            <a:ext cx="1652558" cy="1562100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FBE43CF-25B1-91E8-8740-0261BA53F79A}"/>
                  </a:ext>
                </a:extLst>
              </p:cNvPr>
              <p:cNvSpPr txBox="1"/>
              <p:nvPr/>
            </p:nvSpPr>
            <p:spPr>
              <a:xfrm>
                <a:off x="5884744" y="2746619"/>
                <a:ext cx="11051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R</m:t>
                      </m:r>
                      <m:r>
                        <a:rPr lang="en-US" altLang="zh-TW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=0.03 </m:t>
                      </m:r>
                      <m:r>
                        <m:rPr>
                          <m:sty m:val="p"/>
                        </m:rPr>
                        <a:rPr lang="en-US" altLang="zh-TW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m:oMathPara>
                </a14:m>
                <a:endParaRPr lang="zh-TW" alt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FBE43CF-25B1-91E8-8740-0261BA53F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744" y="2746619"/>
                <a:ext cx="1105174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橢圓 20">
            <a:extLst>
              <a:ext uri="{FF2B5EF4-FFF2-40B4-BE49-F238E27FC236}">
                <a16:creationId xmlns:a16="http://schemas.microsoft.com/office/drawing/2014/main" id="{9B3CBF30-7A94-AA50-15BE-8708A8B5B5C4}"/>
              </a:ext>
            </a:extLst>
          </p:cNvPr>
          <p:cNvSpPr/>
          <p:nvPr/>
        </p:nvSpPr>
        <p:spPr>
          <a:xfrm>
            <a:off x="7424301" y="1938147"/>
            <a:ext cx="45719" cy="4571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1E0479D2-41F2-CC01-EB8D-7BFB8953418D}"/>
              </a:ext>
            </a:extLst>
          </p:cNvPr>
          <p:cNvSpPr/>
          <p:nvPr/>
        </p:nvSpPr>
        <p:spPr>
          <a:xfrm>
            <a:off x="7501544" y="1686102"/>
            <a:ext cx="45719" cy="4571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0A77EB63-2F87-F6AD-7E17-C7E8113A777F}"/>
              </a:ext>
            </a:extLst>
          </p:cNvPr>
          <p:cNvSpPr/>
          <p:nvPr/>
        </p:nvSpPr>
        <p:spPr>
          <a:xfrm>
            <a:off x="6963411" y="2557604"/>
            <a:ext cx="45719" cy="4571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48E6807B-3FDB-5098-EE36-6E968F52FEA9}"/>
              </a:ext>
            </a:extLst>
          </p:cNvPr>
          <p:cNvCxnSpPr>
            <a:cxnSpLocks/>
          </p:cNvCxnSpPr>
          <p:nvPr/>
        </p:nvCxnSpPr>
        <p:spPr>
          <a:xfrm>
            <a:off x="7224452" y="2030729"/>
            <a:ext cx="1005694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632466B-0A6E-5482-3C59-8CE61C60CC18}"/>
              </a:ext>
            </a:extLst>
          </p:cNvPr>
          <p:cNvCxnSpPr>
            <a:cxnSpLocks/>
            <a:endCxn id="21" idx="6"/>
          </p:cNvCxnSpPr>
          <p:nvPr/>
        </p:nvCxnSpPr>
        <p:spPr>
          <a:xfrm flipV="1">
            <a:off x="7245638" y="1961007"/>
            <a:ext cx="224382" cy="72789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E0FF7F5B-5305-2C70-7FF7-214483055CAF}"/>
              </a:ext>
            </a:extLst>
          </p:cNvPr>
          <p:cNvCxnSpPr>
            <a:cxnSpLocks/>
            <a:endCxn id="22" idx="0"/>
          </p:cNvCxnSpPr>
          <p:nvPr/>
        </p:nvCxnSpPr>
        <p:spPr>
          <a:xfrm flipV="1">
            <a:off x="7253402" y="1686102"/>
            <a:ext cx="271002" cy="347693"/>
          </a:xfrm>
          <a:prstGeom prst="line">
            <a:avLst/>
          </a:prstGeom>
          <a:ln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BD7F4C18-419E-7F2E-DEAE-164CD8388CA0}"/>
              </a:ext>
            </a:extLst>
          </p:cNvPr>
          <p:cNvCxnSpPr>
            <a:cxnSpLocks/>
            <a:stCxn id="23" idx="7"/>
          </p:cNvCxnSpPr>
          <p:nvPr/>
        </p:nvCxnSpPr>
        <p:spPr>
          <a:xfrm flipV="1">
            <a:off x="7002435" y="2034141"/>
            <a:ext cx="217515" cy="530158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ED98A776-321E-36CC-96E6-8F9572B0A6E5}"/>
                  </a:ext>
                </a:extLst>
              </p:cNvPr>
              <p:cNvSpPr txBox="1"/>
              <p:nvPr/>
            </p:nvSpPr>
            <p:spPr>
              <a:xfrm>
                <a:off x="6329409" y="1575108"/>
                <a:ext cx="5983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ED98A776-321E-36CC-96E6-8F9572B0A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409" y="1575108"/>
                <a:ext cx="598369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弧形 156">
            <a:extLst>
              <a:ext uri="{FF2B5EF4-FFF2-40B4-BE49-F238E27FC236}">
                <a16:creationId xmlns:a16="http://schemas.microsoft.com/office/drawing/2014/main" id="{CF610AF1-0375-5E27-A619-72062F88C616}"/>
              </a:ext>
            </a:extLst>
          </p:cNvPr>
          <p:cNvSpPr/>
          <p:nvPr/>
        </p:nvSpPr>
        <p:spPr>
          <a:xfrm rot="19574104">
            <a:off x="6762715" y="1649974"/>
            <a:ext cx="999459" cy="932180"/>
          </a:xfrm>
          <a:prstGeom prst="arc">
            <a:avLst>
              <a:gd name="adj1" fmla="val 9354327"/>
              <a:gd name="adj2" fmla="val 19885747"/>
            </a:avLst>
          </a:prstGeom>
          <a:noFill/>
          <a:ln w="19050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46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0DAB4A9B-D1CB-D7D7-7089-2E13B7050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093D43-B84E-85B7-E145-F531E69F33D6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FDA9A7F4-14EA-28DB-B72B-297D331EB273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F2A3F481-754E-5F95-A5EF-C53E6FF9973A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BC49DDA3-4F70-3D27-A68F-D53C92DCAD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A117BF9F-CD06-40CE-EBB4-298C15455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0B6E08F0-BB7E-F346-EF71-10E71A0B05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E731B0F1-5F80-B5CD-8DFC-8F36E88A52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651" y="673809"/>
                <a:ext cx="7609189" cy="4383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400050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LiDAR Data Processing:</a:t>
                </a:r>
              </a:p>
              <a:p>
                <a:pPr lvl="1" indent="-3429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 startAt="2"/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Hole Edge &amp; Center Extraction</a:t>
                </a:r>
              </a:p>
              <a:p>
                <a:pPr marL="1200150" lvl="2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Times New Roman" panose="02020603050405020304" pitchFamily="18" charset="0"/>
                  <a:buChar char="○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尋找圓孔中心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邊緣點用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Euclidean clustering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分組（設定某一距離內為同一組圓孔邊緣）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每組做橢圓擬合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e>
                      <m:sup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𝐵𝑥𝑦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𝐶</m:t>
                    </m:r>
                    <m:sSup>
                      <m:sSupPr>
                        <m:ctrlP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  <m:sup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𝐷𝑥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𝐸𝑦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𝐴𝐶</m:t>
                    </m:r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橢圓中心即為孔心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CD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BE</m:t>
                        </m:r>
                      </m:num>
                      <m:den>
                        <m:sSup>
                          <m:sSup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𝐴𝐶</m:t>
                        </m:r>
                      </m:den>
                    </m:f>
                    <m:r>
                      <a:rPr lang="en-US" altLang="zh-TW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MU Sans Serif Medium" panose="02000603000000000000" pitchFamily="2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sub>
                    </m:sSub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AE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num>
                      <m:den>
                        <m:sSup>
                          <m:sSupPr>
                            <m:ctrlP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TW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𝐴𝐶</m:t>
                        </m:r>
                      </m:den>
                    </m:f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657350" lvl="3" indent="-1714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可計算出圓孔的中心位置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800100" lvl="1" indent="-2286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 startAt="3"/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Validation</a:t>
                </a:r>
              </a:p>
              <a:p>
                <a:pPr marL="1314450" lvl="2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Times New Roman" panose="02020603050405020304" pitchFamily="18" charset="0"/>
                  <a:buChar char="○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長軸長度接近已知半徑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314450" lvl="2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Times New Roman" panose="02020603050405020304" pitchFamily="18" charset="0"/>
                  <a:buChar char="○"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確認此孔接近圓形</a:t>
                </a:r>
              </a:p>
              <a:p>
                <a:pPr marL="1028700" lvl="2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      → 確定圓孔中心座標</a:t>
                </a: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800100" lvl="1" indent="-2286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 startAt="4"/>
                </a:pP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將圓心座標轉回原始座標系（</a:t>
                </a: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3D</a:t>
                </a: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）</a:t>
                </a:r>
              </a:p>
              <a:p>
                <a:pPr marL="800100" lvl="1" indent="-22860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Font typeface="+mj-lt"/>
                  <a:buAutoNum type="arabicPeriod" startAt="4"/>
                </a:pP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得到</a:t>
                </a: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LiDAR</a:t>
                </a: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看到的圓孔中心點集合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E731B0F1-5F80-B5CD-8DFC-8F36E88A5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1" y="673809"/>
                <a:ext cx="7609189" cy="43830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5A0ADE7-639F-41E2-9035-49D9CE78F7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8F179BE2-3AC7-BC62-FCE2-B35BE59264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CE491AFA-B909-1116-9EE4-4FF14D5F68E8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07A1DBC-6E92-F1AF-F471-F54248C519B8}"/>
              </a:ext>
            </a:extLst>
          </p:cNvPr>
          <p:cNvSpPr txBox="1"/>
          <p:nvPr/>
        </p:nvSpPr>
        <p:spPr>
          <a:xfrm>
            <a:off x="4126230" y="2114550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pic>
        <p:nvPicPr>
          <p:cNvPr id="11" name="圖片 10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6B2BA99B-0DDA-5075-DC3E-383621C360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1759" y="2933598"/>
            <a:ext cx="2340617" cy="16721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橢圓 12">
            <a:extLst>
              <a:ext uri="{FF2B5EF4-FFF2-40B4-BE49-F238E27FC236}">
                <a16:creationId xmlns:a16="http://schemas.microsoft.com/office/drawing/2014/main" id="{09F2900D-D541-F85C-D43C-829685AEEEE3}"/>
              </a:ext>
            </a:extLst>
          </p:cNvPr>
          <p:cNvSpPr/>
          <p:nvPr/>
        </p:nvSpPr>
        <p:spPr>
          <a:xfrm>
            <a:off x="5943600" y="340281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700741-0A83-87EA-8E19-47F5FD59C873}"/>
              </a:ext>
            </a:extLst>
          </p:cNvPr>
          <p:cNvSpPr/>
          <p:nvPr/>
        </p:nvSpPr>
        <p:spPr>
          <a:xfrm>
            <a:off x="6781800" y="341043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EE1547E9-9707-F400-0C37-D13C4238C403}"/>
              </a:ext>
            </a:extLst>
          </p:cNvPr>
          <p:cNvSpPr/>
          <p:nvPr/>
        </p:nvSpPr>
        <p:spPr>
          <a:xfrm>
            <a:off x="6781800" y="407337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2CCC014A-C78F-14D0-F9AF-9724C392FE5A}"/>
              </a:ext>
            </a:extLst>
          </p:cNvPr>
          <p:cNvSpPr/>
          <p:nvPr/>
        </p:nvSpPr>
        <p:spPr>
          <a:xfrm>
            <a:off x="5943600" y="408099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562CC4D-E48B-680F-E77E-286218EDB995}"/>
                  </a:ext>
                </a:extLst>
              </p:cNvPr>
              <p:cNvSpPr txBox="1"/>
              <p:nvPr/>
            </p:nvSpPr>
            <p:spPr>
              <a:xfrm>
                <a:off x="6216380" y="3028537"/>
                <a:ext cx="4116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562CC4D-E48B-680F-E77E-286218EDB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380" y="3028537"/>
                <a:ext cx="411651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148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FD7EE979-AF0D-23C8-314C-E74959D21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4C1CAC5-1902-E27D-DB43-E2B05BD2008D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FFCDA125-65A6-700D-2730-0286CE11D9C0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464D645E-E457-B5BC-4740-2C7EDDA22911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B4A6E32C-8499-33FE-1472-412FEAB323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08E186C6-B309-583B-AF56-27C637D52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833398B0-E97A-65E5-A4D9-633263350F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0F44286F-EFB4-AED7-697A-CE60F15602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651" y="673809"/>
                <a:ext cx="7609189" cy="4383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434343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400050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Registration:</a:t>
                </a:r>
              </a:p>
              <a:p>
                <a:pPr marL="857250" lvl="1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兩組對應圓心座標，找到一個剛體轉換矩陣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zh-TW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sz="1400" i="1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marL="571500" lvl="1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     </a:t>
                </a: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把</a:t>
                </a: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LiDAR</a:t>
                </a: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的點轉換到相機座標系：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p>
                    </m:sSup>
                    <m:r>
                      <a:rPr lang="en-US" altLang="zh-TW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sSup>
                      <m:sSup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zh-TW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p>
                    </m:sSup>
                  </m:oMath>
                </a14:m>
                <a:endParaRPr lang="en-US" altLang="zh-TW" sz="1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857250" lvl="1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en-US" altLang="zh-TW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Kabsch</a:t>
                </a:r>
                <a:r>
                  <a:rPr lang="en-US" altLang="zh-TW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+ SVD </a:t>
                </a: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：</a:t>
                </a:r>
                <a:r>
                  <a:rPr lang="en-US" altLang="zh-TW" sz="1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min</m:t>
                    </m:r>
                    <m:r>
                      <a:rPr lang="en-US" altLang="zh-TW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p>
                      <m:e>
                        <m:sSup>
                          <m:sSupPr>
                            <m:ctrlPr>
                              <a:rPr lang="en-US" altLang="zh-TW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TW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sup>
                                </m:sSup>
                                <m:r>
                                  <a:rPr lang="en-US" altLang="zh-TW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𝐶𝐿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TW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314450" lvl="2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2F0824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TW" altLang="en-US" i="1" dirty="0">
                        <a:solidFill>
                          <a:srgbClr val="2F0824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TW" altLang="en-US" dirty="0">
                    <a:solidFill>
                      <a:srgbClr val="2F0824"/>
                    </a:solidFill>
                  </a:rPr>
                  <a:t>不同的場景數，每個場景可取得 </a:t>
                </a:r>
                <a14:m>
                  <m:oMath xmlns:m="http://schemas.openxmlformats.org/officeDocument/2006/math">
                    <m:r>
                      <a:rPr lang="en-US" altLang="zh-TW" b="0" i="0" dirty="0" smtClean="0">
                        <a:solidFill>
                          <a:srgbClr val="2F0824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zh-TW" dirty="0">
                    <a:solidFill>
                      <a:srgbClr val="2F0824"/>
                    </a:solidFill>
                  </a:rPr>
                  <a:t> </a:t>
                </a:r>
                <a:r>
                  <a:rPr lang="zh-TW" altLang="en-US" dirty="0">
                    <a:solidFill>
                      <a:srgbClr val="2F0824"/>
                    </a:solidFill>
                  </a:rPr>
                  <a:t>個圓心位置，所以總共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2F0824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TW" i="1" dirty="0" smtClean="0">
                        <a:solidFill>
                          <a:srgbClr val="2F0824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TW" altLang="en-US" dirty="0">
                    <a:solidFill>
                      <a:srgbClr val="2F0824"/>
                    </a:solidFill>
                  </a:rPr>
                  <a:t>對應點</a:t>
                </a:r>
                <a:r>
                  <a:rPr lang="en-US" altLang="zh-TW" sz="1400" dirty="0">
                    <a:solidFill>
                      <a:srgbClr val="2F0824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314450" lvl="2" indent="-28575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</a:pPr>
                <a:r>
                  <a:rPr lang="zh-TW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得到最佳剛體轉換矩陣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r>
                      <a:rPr lang="en-US" altLang="zh-TW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  <a:p>
                <a:pPr marL="114300" indent="0">
                  <a:lnSpc>
                    <a:spcPct val="100000"/>
                  </a:lnSpc>
                  <a:spcBef>
                    <a:spcPts val="800"/>
                  </a:spcBef>
                  <a:buClr>
                    <a:srgbClr val="3D98DE"/>
                  </a:buClr>
                  <a:buNone/>
                </a:pPr>
                <a:endParaRPr lang="en-US" altLang="zh-TW" sz="1000" dirty="0">
                  <a:solidFill>
                    <a:schemeClr val="tx1"/>
                  </a:solidFill>
                  <a:latin typeface="Times New Roman" panose="02020603050405020304" pitchFamily="18" charset="0"/>
                  <a:ea typeface="CMU Sans Serif Medium" panose="02000603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0F44286F-EFB4-AED7-697A-CE60F1560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1" y="673809"/>
                <a:ext cx="7609189" cy="43830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E43767B-80DA-56A9-42CB-B84A7D24AF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2B037FDB-0849-BCD5-DF1D-A27B824CCF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FAST-Calib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2894D910-CD98-2E40-A861-802A837EC6E7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41CED36-70A6-566B-0DB0-BADFB11476EF}"/>
              </a:ext>
            </a:extLst>
          </p:cNvPr>
          <p:cNvSpPr txBox="1"/>
          <p:nvPr/>
        </p:nvSpPr>
        <p:spPr>
          <a:xfrm>
            <a:off x="4126230" y="2114550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pic>
        <p:nvPicPr>
          <p:cNvPr id="11" name="圖片 10" descr="一張含有 圓形, 圖表, 設計 的圖片&#10;&#10;AI 產生的內容可能不正確。">
            <a:extLst>
              <a:ext uri="{FF2B5EF4-FFF2-40B4-BE49-F238E27FC236}">
                <a16:creationId xmlns:a16="http://schemas.microsoft.com/office/drawing/2014/main" id="{391D92A0-71EA-4DAF-A987-07CE1C3FD1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1759" y="2933598"/>
            <a:ext cx="2340617" cy="16721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橢圓 12">
            <a:extLst>
              <a:ext uri="{FF2B5EF4-FFF2-40B4-BE49-F238E27FC236}">
                <a16:creationId xmlns:a16="http://schemas.microsoft.com/office/drawing/2014/main" id="{94BEEC63-CDA3-4601-30D0-2D89F41892E3}"/>
              </a:ext>
            </a:extLst>
          </p:cNvPr>
          <p:cNvSpPr/>
          <p:nvPr/>
        </p:nvSpPr>
        <p:spPr>
          <a:xfrm>
            <a:off x="5943600" y="340281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7964478E-D49A-8F3F-3456-1A0D8579B7E5}"/>
              </a:ext>
            </a:extLst>
          </p:cNvPr>
          <p:cNvSpPr/>
          <p:nvPr/>
        </p:nvSpPr>
        <p:spPr>
          <a:xfrm>
            <a:off x="6781800" y="341043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/>
              </a:solidFill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A1C6136-3E9E-A289-F7DB-CBD613531666}"/>
              </a:ext>
            </a:extLst>
          </p:cNvPr>
          <p:cNvSpPr/>
          <p:nvPr/>
        </p:nvSpPr>
        <p:spPr>
          <a:xfrm>
            <a:off x="6781800" y="407337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/>
              </a:solidFill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04248997-B729-A75A-400B-30F5020DBB8A}"/>
              </a:ext>
            </a:extLst>
          </p:cNvPr>
          <p:cNvSpPr/>
          <p:nvPr/>
        </p:nvSpPr>
        <p:spPr>
          <a:xfrm>
            <a:off x="5943600" y="408099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A1E7DBB-92AA-E7CC-A104-A8A82716D152}"/>
                  </a:ext>
                </a:extLst>
              </p:cNvPr>
              <p:cNvSpPr txBox="1"/>
              <p:nvPr/>
            </p:nvSpPr>
            <p:spPr>
              <a:xfrm>
                <a:off x="5989319" y="2977021"/>
                <a:ext cx="8614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→</a:t>
                </a:r>
                <a:r>
                  <a:rPr lang="en-US" altLang="zh-TW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zh-TW" altLang="en-US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CMU Sans Serif Medium" panose="02000603000000000000" pitchFamily="2" charset="0"/>
                    <a:cs typeface="Times New Roman" panose="02020603050405020304" pitchFamily="18" charset="0"/>
                  </a:rPr>
                  <a:t> 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A1E7DBB-92AA-E7CC-A104-A8A82716D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319" y="2977021"/>
                <a:ext cx="861454" cy="307777"/>
              </a:xfrm>
              <a:prstGeom prst="rect">
                <a:avLst/>
              </a:prstGeom>
              <a:blipFill>
                <a:blip r:embed="rId9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7279C8D-B33D-065F-F949-09C1D6B955AA}"/>
                  </a:ext>
                </a:extLst>
              </p:cNvPr>
              <p:cNvSpPr txBox="1"/>
              <p:nvPr/>
            </p:nvSpPr>
            <p:spPr>
              <a:xfrm>
                <a:off x="6149212" y="2669244"/>
                <a:ext cx="4857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7279C8D-B33D-065F-F949-09C1D6B95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212" y="2669244"/>
                <a:ext cx="485709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913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3904A141-109B-2DDB-7E72-A3446953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版面配置區 2">
            <a:extLst>
              <a:ext uri="{FF2B5EF4-FFF2-40B4-BE49-F238E27FC236}">
                <a16:creationId xmlns:a16="http://schemas.microsoft.com/office/drawing/2014/main" id="{BCF90CBE-00E6-615C-99DC-29AD2E51FC2F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00050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LiDAR Comparison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剔除掉不符合需求的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LiDAR</a:t>
            </a:r>
          </a:p>
          <a:p>
            <a:pPr marL="857250" lvl="1" indent="-28575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價格資訊未公開→ 詢問廠商欲了解價格、交貨時長、更詳細的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datasheet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尚未取得回應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046396-E9F0-18F3-DDF6-057D7A641FC5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2098F919-E60F-4D95-E06E-D93CED2E20BA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4689BF69-0FB5-DA84-D923-E876540F04EC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4EDB1785-25E4-A03B-7F68-37B9E2A1EA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ABEF7E54-D3E9-E909-60C5-4707E301F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4A88B1F8-A3BA-0651-F10D-9B9B179575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3ED8B8A-BE7B-C553-2410-A7796F3DD1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2D99C5F4-7760-7AB2-8D0B-8D0D67EB9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 Comparison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B7ABF8B0-BF40-1B70-832C-702649B7CF53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685F322-F33F-4934-DB3E-8B54C3EEA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006420"/>
              </p:ext>
            </p:extLst>
          </p:nvPr>
        </p:nvGraphicFramePr>
        <p:xfrm>
          <a:off x="350018" y="1858554"/>
          <a:ext cx="8099070" cy="29194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19814">
                  <a:extLst>
                    <a:ext uri="{9D8B030D-6E8A-4147-A177-3AD203B41FA5}">
                      <a16:colId xmlns:a16="http://schemas.microsoft.com/office/drawing/2014/main" val="1768763307"/>
                    </a:ext>
                  </a:extLst>
                </a:gridCol>
                <a:gridCol w="1619814">
                  <a:extLst>
                    <a:ext uri="{9D8B030D-6E8A-4147-A177-3AD203B41FA5}">
                      <a16:colId xmlns:a16="http://schemas.microsoft.com/office/drawing/2014/main" val="811713847"/>
                    </a:ext>
                  </a:extLst>
                </a:gridCol>
                <a:gridCol w="1619814">
                  <a:extLst>
                    <a:ext uri="{9D8B030D-6E8A-4147-A177-3AD203B41FA5}">
                      <a16:colId xmlns:a16="http://schemas.microsoft.com/office/drawing/2014/main" val="4081411879"/>
                    </a:ext>
                  </a:extLst>
                </a:gridCol>
                <a:gridCol w="1619814">
                  <a:extLst>
                    <a:ext uri="{9D8B030D-6E8A-4147-A177-3AD203B41FA5}">
                      <a16:colId xmlns:a16="http://schemas.microsoft.com/office/drawing/2014/main" val="761433078"/>
                    </a:ext>
                  </a:extLst>
                </a:gridCol>
                <a:gridCol w="1619814">
                  <a:extLst>
                    <a:ext uri="{9D8B030D-6E8A-4147-A177-3AD203B41FA5}">
                      <a16:colId xmlns:a16="http://schemas.microsoft.com/office/drawing/2014/main" val="1522968950"/>
                    </a:ext>
                  </a:extLst>
                </a:gridCol>
              </a:tblGrid>
              <a:tr h="1370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Manufacturer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Robosense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Quanergy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Innoviz 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</a:rPr>
                        <a:t>Neuvition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1259599096"/>
                  </a:ext>
                </a:extLst>
              </a:tr>
              <a:tr h="1537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LiDAR model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u="sng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7"/>
                        </a:rPr>
                        <a:t>E1R</a:t>
                      </a:r>
                      <a:endParaRPr lang="en-US" sz="1400" b="0" u="sng">
                        <a:solidFill>
                          <a:srgbClr val="467886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u="sng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8"/>
                        </a:rPr>
                        <a:t>Q- vision F540</a:t>
                      </a:r>
                      <a:endParaRPr lang="en-US" sz="1400" b="0" u="sng">
                        <a:solidFill>
                          <a:srgbClr val="467886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u="sng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9"/>
                        </a:rPr>
                        <a:t>InnovizOne</a:t>
                      </a:r>
                      <a:endParaRPr lang="en-US" sz="1400" b="0" u="sng">
                        <a:solidFill>
                          <a:srgbClr val="467886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u="sng" dirty="0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10"/>
                        </a:rPr>
                        <a:t>Titan </a:t>
                      </a:r>
                      <a:r>
                        <a:rPr lang="en-US" sz="1400" b="0" u="sng" dirty="0" err="1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10"/>
                        </a:rPr>
                        <a:t>S2</a:t>
                      </a:r>
                      <a:r>
                        <a:rPr lang="en-US" sz="1400" b="0" u="sng" dirty="0">
                          <a:solidFill>
                            <a:srgbClr val="467886"/>
                          </a:solidFill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hlinkClick r:id="rId10"/>
                        </a:rPr>
                        <a:t>-120</a:t>
                      </a:r>
                      <a:endParaRPr lang="en-US" sz="1400" b="0" u="sng" dirty="0">
                        <a:solidFill>
                          <a:srgbClr val="467886"/>
                        </a:solidFill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</a:endParaRP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3203405107"/>
                  </a:ext>
                </a:extLst>
              </a:tr>
              <a:tr h="2740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Origin country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China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USA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Israel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USA</a:t>
                      </a: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4148128229"/>
                  </a:ext>
                </a:extLst>
              </a:tr>
              <a:tr h="4110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Range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30m@10%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6m@10%</a:t>
                      </a:r>
                      <a:b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7.8m@18%</a:t>
                      </a:r>
                      <a:b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16m@80%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110m@10%</a:t>
                      </a:r>
                      <a:b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180m@50%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</a:rPr>
                        <a:t>0.3-18m@20</a:t>
                      </a: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3478741812"/>
                  </a:ext>
                </a:extLst>
              </a:tr>
              <a:tr h="1370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FOV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120° × 90°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110° × 90°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115° × 15°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dirty="0">
                          <a:effectLst/>
                          <a:latin typeface="Times New Roman" panose="02020603050405020304" pitchFamily="18" charset="0"/>
                        </a:rPr>
                        <a:t>120° × 70°</a:t>
                      </a: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1344593956"/>
                  </a:ext>
                </a:extLst>
              </a:tr>
              <a:tr h="2670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Resolution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Avg. 0.625° × 0.625°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0.14° × 0.14°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0.1° × 0.1°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dirty="0">
                          <a:effectLst/>
                          <a:latin typeface="Times New Roman" panose="02020603050405020304" pitchFamily="18" charset="0"/>
                        </a:rPr>
                        <a:t>0.5° × 0.5°</a:t>
                      </a: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1419883868"/>
                  </a:ext>
                </a:extLst>
              </a:tr>
              <a:tr h="1370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Price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>
                          <a:effectLst/>
                          <a:latin typeface="Times New Roman" panose="02020603050405020304" pitchFamily="18" charset="0"/>
                        </a:rPr>
                        <a:t>$999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zh-TW" altLang="en-US" sz="1400" dirty="0">
                        <a:effectLst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zh-TW" altLang="en-US" sz="1400">
                        <a:effectLst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zh-TW" altLang="en-US" sz="1400" dirty="0">
                        <a:effectLst/>
                      </a:endParaRP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2054015201"/>
                  </a:ext>
                </a:extLst>
              </a:tr>
              <a:tr h="2670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Points returned per second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260k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10.8M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2.8M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zh-TW" altLang="en-US" sz="1400" dirty="0">
                        <a:effectLst/>
                      </a:endParaRP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300537978"/>
                  </a:ext>
                </a:extLst>
              </a:tr>
              <a:tr h="4581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ROS driver availability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</a:rPr>
                        <a:t>ROS1</a:t>
                      </a: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/</a:t>
                      </a:r>
                      <a:b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400" b="0" dirty="0" err="1">
                          <a:effectLst/>
                          <a:latin typeface="Times New Roman" panose="02020603050405020304" pitchFamily="18" charset="0"/>
                        </a:rPr>
                        <a:t>ROS2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>
                          <a:effectLst/>
                          <a:latin typeface="Times New Roman" panose="02020603050405020304" pitchFamily="18" charset="0"/>
                        </a:rPr>
                        <a:t>API</a:t>
                      </a: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zh-TW" altLang="en-US" sz="1400">
                        <a:effectLst/>
                      </a:endParaRPr>
                    </a:p>
                  </a:txBody>
                  <a:tcPr marL="22860" marR="2286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</a:rPr>
                        <a:t>API</a:t>
                      </a:r>
                    </a:p>
                  </a:txBody>
                  <a:tcPr marL="22860" marR="22860" marT="0" marB="0" anchor="ctr"/>
                </a:tc>
                <a:extLst>
                  <a:ext uri="{0D108BD9-81ED-4DB2-BD59-A6C34878D82A}">
                    <a16:rowId xmlns:a16="http://schemas.microsoft.com/office/drawing/2014/main" val="612946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698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8407ABE-FB8D-CE78-6A28-910A1D5DA8F8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EC685194-F9B7-60D1-4185-A4FE1372DA7D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34AC41B5-083C-A158-2D6C-3AA14C8298F8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244F95E5-A8CF-514D-3286-71AC412BF4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D9003049-7FCE-C4CF-59D9-D74508C7A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88431988-1159-8B6B-4E5D-02E668D919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9E6589F-1E9D-F439-D4EC-58C7A8953222}"/>
              </a:ext>
            </a:extLst>
          </p:cNvPr>
          <p:cNvSpPr txBox="1">
            <a:spLocks/>
          </p:cNvSpPr>
          <p:nvPr/>
        </p:nvSpPr>
        <p:spPr>
          <a:xfrm>
            <a:off x="425059" y="593985"/>
            <a:ext cx="8047399" cy="3582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製作好標定板進行外參標定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於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202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實驗室收集點雲與影像試跑在未同步下的建圖結果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  <a:p>
            <a:pPr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Wingdings" panose="05000000000000000000" pitchFamily="2" charset="2"/>
              <a:buChar char="l"/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看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source code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深入了解重要的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module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MU Sans Serif Medium" panose="02000603000000000000" pitchFamily="2" charset="0"/>
                <a:cs typeface="Times New Roman" panose="02020603050405020304" pitchFamily="18" charset="0"/>
              </a:rPr>
              <a:t>及參數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CMU Sans Serif Medium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133263A-151B-4B97-AD39-572BCE7DAF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CA36A47D-4295-47BC-97C0-B0C708162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en-US" altLang="zh-TW" sz="2400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27930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Timeline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5EB2FC"/>
      </a:accent1>
      <a:accent2>
        <a:srgbClr val="69E781"/>
      </a:accent2>
      <a:accent3>
        <a:srgbClr val="869FB2"/>
      </a:accent3>
      <a:accent4>
        <a:srgbClr val="4949E7"/>
      </a:accent4>
      <a:accent5>
        <a:srgbClr val="FCBD24"/>
      </a:accent5>
      <a:accent6>
        <a:srgbClr val="EC3A3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77726</TotalTime>
  <Words>1050</Words>
  <Application>Microsoft Office PowerPoint</Application>
  <PresentationFormat>如螢幕大小 (16:9)</PresentationFormat>
  <Paragraphs>237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5" baseType="lpstr">
      <vt:lpstr>Cambria Math</vt:lpstr>
      <vt:lpstr>Roboto</vt:lpstr>
      <vt:lpstr>PMingLiu</vt:lpstr>
      <vt:lpstr>Fira Sans Extra Condensed SemiBold</vt:lpstr>
      <vt:lpstr>CMU Sans Serif Medium</vt:lpstr>
      <vt:lpstr>Fira Sans Extra Condensed</vt:lpstr>
      <vt:lpstr>Wingdings</vt:lpstr>
      <vt:lpstr>Times New Roman</vt:lpstr>
      <vt:lpstr>Arial</vt:lpstr>
      <vt:lpstr>CMU Sans Serif</vt:lpstr>
      <vt:lpstr>Timeline Infographics by Slidesgo</vt:lpstr>
      <vt:lpstr>FAST-Calib and LiDAR Comparison</vt:lpstr>
      <vt:lpstr>Outline</vt:lpstr>
      <vt:lpstr>Intrinsic Calibration</vt:lpstr>
      <vt:lpstr>Intrinsic Calibration</vt:lpstr>
      <vt:lpstr>FAST-Calib</vt:lpstr>
      <vt:lpstr>FAST-Calib</vt:lpstr>
      <vt:lpstr>FAST-Calib</vt:lpstr>
      <vt:lpstr>FAST-Calib</vt:lpstr>
      <vt:lpstr>FAST-Calib</vt:lpstr>
      <vt:lpstr>FAST-Calib</vt:lpstr>
      <vt:lpstr>FAST-Calib</vt:lpstr>
      <vt:lpstr>FAST-Calib</vt:lpstr>
      <vt:lpstr>LiDAR Comparison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Timeline Infographics</dc:title>
  <dc:creator>eatshit!</dc:creator>
  <cp:lastModifiedBy>簡庭筠</cp:lastModifiedBy>
  <cp:revision>2467</cp:revision>
  <dcterms:modified xsi:type="dcterms:W3CDTF">2025-09-19T01:25:57Z</dcterms:modified>
</cp:coreProperties>
</file>