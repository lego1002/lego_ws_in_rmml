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3" r:id="rId5"/>
    <p:sldId id="275" r:id="rId6"/>
    <p:sldId id="284" r:id="rId7"/>
    <p:sldId id="286" r:id="rId8"/>
    <p:sldId id="274" r:id="rId9"/>
    <p:sldId id="287" r:id="rId17"/>
    <p:sldId id="288" r:id="rId18"/>
    <p:sldId id="289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6327"/>
  </p:normalViewPr>
  <p:slideViewPr>
    <p:cSldViewPr snapToGrid="0">
      <p:cViewPr varScale="1">
        <p:scale>
          <a:sx n="87" d="100"/>
          <a:sy n="87" d="100"/>
        </p:scale>
        <p:origin x="273" y="36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8/10/relationships/authors" Target="author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9/23/2025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4788" y="4773676"/>
            <a:ext cx="5486400" cy="957144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title style</a:t>
            </a:r>
            <a:endParaRPr lang="en-PK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圖片 6">
            <a:extLst>
              <a:ext uri="{FF2B5EF4-FFF2-40B4-BE49-F238E27FC236}">
                <a16:creationId xmlns:a16="http://schemas.microsoft.com/office/drawing/2014/main" id="{4455C85A-D0F1-E65A-48E7-E3DE05CCCE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5794" y="5943600"/>
            <a:ext cx="591736" cy="911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E57738-A148-53BE-9380-FD942FF032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2899" y="5962117"/>
            <a:ext cx="1389101" cy="892756"/>
          </a:xfrm>
          <a:prstGeom prst="rect">
            <a:avLst/>
          </a:prstGeom>
        </p:spPr>
      </p:pic>
      <p:pic>
        <p:nvPicPr>
          <p:cNvPr id="6" name="圖片 4">
            <a:extLst>
              <a:ext uri="{FF2B5EF4-FFF2-40B4-BE49-F238E27FC236}">
                <a16:creationId xmlns:a16="http://schemas.microsoft.com/office/drawing/2014/main" id="{9CEDBC23-327D-2B76-3BAE-58B7DD2BD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9536923" y="5943416"/>
            <a:ext cx="919221" cy="91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圖片 13">
            <a:extLst>
              <a:ext uri="{FF2B5EF4-FFF2-40B4-BE49-F238E27FC236}">
                <a16:creationId xmlns:a16="http://schemas.microsoft.com/office/drawing/2014/main" id="{60F4198A-0879-7671-8F2F-AA507AB2DB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27933" y="5721888"/>
            <a:ext cx="540000" cy="831600"/>
          </a:xfrm>
          <a:prstGeom prst="rect">
            <a:avLst/>
          </a:prstGeom>
        </p:spPr>
      </p:pic>
      <p:pic>
        <p:nvPicPr>
          <p:cNvPr id="10" name="圖片 3">
            <a:extLst>
              <a:ext uri="{FF2B5EF4-FFF2-40B4-BE49-F238E27FC236}">
                <a16:creationId xmlns:a16="http://schemas.microsoft.com/office/drawing/2014/main" id="{8349D707-BE76-28BE-729C-B6FCD1A9E0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03866" y="4640141"/>
            <a:ext cx="588134" cy="394624"/>
          </a:xfrm>
          <a:prstGeom prst="rect">
            <a:avLst/>
          </a:prstGeom>
        </p:spPr>
      </p:pic>
      <p:pic>
        <p:nvPicPr>
          <p:cNvPr id="11" name="圖片 4">
            <a:extLst>
              <a:ext uri="{FF2B5EF4-FFF2-40B4-BE49-F238E27FC236}">
                <a16:creationId xmlns:a16="http://schemas.microsoft.com/office/drawing/2014/main" id="{71A86C49-244E-5E22-6760-3D8E7C822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11655733" y="5084389"/>
            <a:ext cx="484400" cy="4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圖片 13">
            <a:extLst>
              <a:ext uri="{FF2B5EF4-FFF2-40B4-BE49-F238E27FC236}">
                <a16:creationId xmlns:a16="http://schemas.microsoft.com/office/drawing/2014/main" id="{9B352967-0BF9-269A-1BD3-232572144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27933" y="5721888"/>
            <a:ext cx="540000" cy="831600"/>
          </a:xfrm>
          <a:prstGeom prst="rect">
            <a:avLst/>
          </a:prstGeom>
        </p:spPr>
      </p:pic>
      <p:pic>
        <p:nvPicPr>
          <p:cNvPr id="3" name="圖片 3">
            <a:extLst>
              <a:ext uri="{FF2B5EF4-FFF2-40B4-BE49-F238E27FC236}">
                <a16:creationId xmlns:a16="http://schemas.microsoft.com/office/drawing/2014/main" id="{559CDFB9-9674-FF6B-AB66-DCBE68C1B0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03866" y="4640141"/>
            <a:ext cx="588134" cy="394624"/>
          </a:xfrm>
          <a:prstGeom prst="rect">
            <a:avLst/>
          </a:prstGeom>
        </p:spPr>
      </p:pic>
      <p:pic>
        <p:nvPicPr>
          <p:cNvPr id="6" name="圖片 4">
            <a:extLst>
              <a:ext uri="{FF2B5EF4-FFF2-40B4-BE49-F238E27FC236}">
                <a16:creationId xmlns:a16="http://schemas.microsoft.com/office/drawing/2014/main" id="{8C2FB62C-5810-6880-147E-1C3198496C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816" b="98440" l="368" r="32138">
                        <a14:foregroundMark x1="12782" y1="67518" x2="12782" y2="67518"/>
                        <a14:foregroundMark x1="8874" y1="69220" x2="8874" y2="69220"/>
                        <a14:foregroundMark x1="13609" y1="67092" x2="13609" y2="67092"/>
                        <a14:foregroundMark x1="14437" y1="64539" x2="14437" y2="64539"/>
                        <a14:foregroundMark x1="21149" y1="64113" x2="21149" y2="64113"/>
                        <a14:foregroundMark x1="24598" y1="60851" x2="24598" y2="60851"/>
                        <a14:foregroundMark x1="26851" y1="70355" x2="26851" y2="70355"/>
                        <a14:foregroundMark x1="27908" y1="86099" x2="27908" y2="86099"/>
                        <a14:foregroundMark x1="23264" y1="86383" x2="20920" y2="66383"/>
                        <a14:foregroundMark x1="25425" y1="76596" x2="18897" y2="58723"/>
                        <a14:foregroundMark x1="18437" y1="60567" x2="19862" y2="78440"/>
                        <a14:foregroundMark x1="19632" y1="83121" x2="24828" y2="88936"/>
                        <a14:foregroundMark x1="25747" y1="93050" x2="30161" y2="63830"/>
                        <a14:foregroundMark x1="29563" y1="60851" x2="23034" y2="52908"/>
                        <a14:foregroundMark x1="22115" y1="22270" x2="14529" y2="13191"/>
                        <a14:foregroundMark x1="15126" y1="19007" x2="11586" y2="25957"/>
                        <a14:foregroundMark x1="11816" y1="28511" x2="18805" y2="33901"/>
                        <a14:foregroundMark x1="21287" y1="35319" x2="13103" y2="41560"/>
                        <a14:foregroundMark x1="11218" y1="44823" x2="15954" y2="49645"/>
                        <a14:foregroundMark x1="22437" y1="37589" x2="16322" y2="50638"/>
                        <a14:foregroundMark x1="16184" y1="44823" x2="9333" y2="21560"/>
                        <a14:foregroundMark x1="11678" y1="58014" x2="3310" y2="77730"/>
                        <a14:foregroundMark x1="4276" y1="61560" x2="11356" y2="90780"/>
                        <a14:foregroundMark x1="14161" y1="81986" x2="7448" y2="66383"/>
                        <a14:foregroundMark x1="9103" y1="54326" x2="2943" y2="59858"/>
                        <a14:foregroundMark x1="3310" y1="62411" x2="2345" y2="69645"/>
                        <a14:foregroundMark x1="2345" y1="76170" x2="2943" y2="83121"/>
                        <a14:foregroundMark x1="5333" y1="86383" x2="8506" y2="91489"/>
                        <a14:foregroundMark x1="11356" y1="90780" x2="14161" y2="78440"/>
                        <a14:foregroundMark x1="14529" y1="75177" x2="13333" y2="59007"/>
                        <a14:foregroundMark x1="15494" y1="14894" x2="10621" y2="21560"/>
                        <a14:foregroundMark x1="10299" y1="26950" x2="10989" y2="39716"/>
                        <a14:foregroundMark x1="11586" y1="42695" x2="15816" y2="51064"/>
                        <a14:foregroundMark x1="23816" y1="55603" x2="20138" y2="62128"/>
                        <a14:foregroundMark x1="20736" y1="60851" x2="29747" y2="78440"/>
                        <a14:foregroundMark x1="18069" y1="21135" x2="21563" y2="33050"/>
                        <a14:foregroundMark x1="21057" y1="44823" x2="17563" y2="49220"/>
                        <a14:foregroundMark x1="18621" y1="46667" x2="20644" y2="52199"/>
                        <a14:foregroundMark x1="21057" y1="53617" x2="20920" y2="59858"/>
                        <a14:foregroundMark x1="7724" y1="49645" x2="4966" y2="53901"/>
                        <a14:backgroundMark x1="10023" y1="9787" x2="10023" y2="9787"/>
                        <a14:backgroundMark x1="4506" y1="34610" x2="4506" y2="34610"/>
                        <a14:backgroundMark x1="28736" y1="31064" x2="28736" y2="31064"/>
                        <a14:backgroundMark x1="17149" y1="90780" x2="17149" y2="90780"/>
                        <a14:backgroundMark x1="4368" y1="94043" x2="4368" y2="940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7422"/>
          <a:stretch/>
        </p:blipFill>
        <p:spPr>
          <a:xfrm>
            <a:off x="11655733" y="5084389"/>
            <a:ext cx="484400" cy="4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1" y="1408176"/>
            <a:ext cx="7580623" cy="2387600"/>
          </a:xfrm>
        </p:spPr>
        <p:txBody>
          <a:bodyPr>
            <a:normAutofit/>
          </a:bodyPr>
          <a:lstStyle/>
          <a:p>
            <a:r>
              <a:rPr lang="en-US" dirty="0"/>
              <a:t>&lt;</a:t>
            </a:r>
            <a:r>
              <a:rPr lang="zh-TW" altLang="en-US" dirty="0"/>
              <a:t>番茄採收載具</a:t>
            </a:r>
            <a:r>
              <a:rPr lang="en-US" altLang="zh-TW" dirty="0"/>
              <a:t>V3</a:t>
            </a:r>
            <a:r>
              <a:rPr lang="en-US" dirty="0"/>
              <a:t>/</a:t>
            </a:r>
            <a:r>
              <a:rPr lang="zh-TW" altLang="en-US" dirty="0"/>
              <a:t>電控箱設計</a:t>
            </a:r>
            <a:r>
              <a:rPr lang="en-US" dirty="0"/>
              <a:t>&gt;</a:t>
            </a:r>
            <a:br>
              <a:rPr lang="en-US" dirty="0"/>
            </a:br>
            <a:endParaRPr lang="en-US" sz="3600" i="1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&lt;Presenter&gt;:</a:t>
            </a:r>
            <a:r>
              <a:rPr lang="zh-TW" altLang="en-US" dirty="0"/>
              <a:t> </a:t>
            </a:r>
            <a:r>
              <a:rPr lang="en-US" altLang="zh-TW" dirty="0"/>
              <a:t>Lego Dai</a:t>
            </a:r>
            <a:endParaRPr lang="en-US" dirty="0"/>
          </a:p>
          <a:p>
            <a:r>
              <a:rPr lang="en-US" dirty="0"/>
              <a:t>&lt;Date&gt;:20250926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Objective &amp; Definition of Done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Objective:</a:t>
            </a:r>
          </a:p>
          <a:p>
            <a:r>
              <a:rPr lang="zh-TW" altLang="en-US" i="1" dirty="0"/>
              <a:t>完成電路圖草圖、確認電力系統  </a:t>
            </a:r>
            <a:r>
              <a:rPr lang="en-US" altLang="zh-TW" i="1" dirty="0"/>
              <a:t>/ </a:t>
            </a:r>
            <a:r>
              <a:rPr lang="zh-TW" altLang="en-US" i="1" dirty="0"/>
              <a:t>在</a:t>
            </a:r>
            <a:r>
              <a:rPr lang="en-US" altLang="zh-TW" i="1" dirty="0" err="1"/>
              <a:t>kicad</a:t>
            </a:r>
            <a:r>
              <a:rPr lang="zh-TW" altLang="en-US" i="1" dirty="0"/>
              <a:t>中呈現電路圖</a:t>
            </a:r>
            <a:endParaRPr lang="en-US" altLang="zh-TW" i="1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Definition of Done:</a:t>
            </a:r>
          </a:p>
          <a:p>
            <a:r>
              <a:rPr lang="zh-TW" altLang="en-US" i="1" dirty="0"/>
              <a:t>完成電路圖草圖、確認電力系統  </a:t>
            </a:r>
            <a:r>
              <a:rPr lang="en-US" altLang="zh-TW" i="1" dirty="0"/>
              <a:t>/ </a:t>
            </a:r>
            <a:r>
              <a:rPr lang="zh-TW" altLang="en-US" i="1" dirty="0"/>
              <a:t>在</a:t>
            </a:r>
            <a:r>
              <a:rPr lang="en-US" altLang="zh-TW" i="1" dirty="0" err="1"/>
              <a:t>kicad</a:t>
            </a:r>
            <a:r>
              <a:rPr lang="zh-TW" altLang="en-US" i="1" dirty="0"/>
              <a:t>中呈現電路圖</a:t>
            </a:r>
            <a:endParaRPr lang="en-US" altLang="zh-TW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0074-2DEF-92F7-92BC-3A034E14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Week's Results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17123-9A3C-C845-BC85-8B92555C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Finding / Outcome:</a:t>
            </a:r>
          </a:p>
          <a:p>
            <a:pPr marL="1485900" lvl="2" indent="-342900"/>
            <a:r>
              <a:rPr lang="zh-TW" altLang="en-US" i="1" dirty="0"/>
              <a:t>把原來的元件列出來並表示確實出現問題</a:t>
            </a: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Deliverable (The Proof):</a:t>
            </a:r>
          </a:p>
          <a:p>
            <a:pPr marL="1485900" lvl="2" indent="-342900"/>
            <a:r>
              <a:rPr lang="zh-TW" altLang="en-US" i="1" dirty="0"/>
              <a:t>各部件所需電流</a:t>
            </a:r>
            <a:r>
              <a:rPr lang="en-US" altLang="zh-TW" i="1" dirty="0"/>
              <a:t>/</a:t>
            </a:r>
            <a:r>
              <a:rPr lang="zh-TW" altLang="en-US" i="1" dirty="0"/>
              <a:t>功率</a:t>
            </a:r>
            <a:endParaRPr lang="en-US" altLang="zh-TW" i="1" dirty="0"/>
          </a:p>
          <a:p>
            <a:pPr marL="1485900" lvl="2" indent="-342900"/>
            <a:r>
              <a:rPr lang="zh-TW" altLang="en-US" i="1" dirty="0"/>
              <a:t>電池和降壓模組能力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D8F29-2DAF-E0CE-5C74-60DFBB86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8E65C-D808-30C5-27A6-3CEB91B2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7713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568B-52E9-BFB1-19AA-D6DCD76B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0D75-51A9-FB0E-793B-09DFF1BE7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Analysis &amp; Reasoning:</a:t>
            </a:r>
          </a:p>
          <a:p>
            <a:pPr marL="1485900" lvl="2" indent="-342900"/>
            <a:r>
              <a:rPr lang="zh-TW" altLang="en-US" i="1" dirty="0"/>
              <a:t>初步觀察電路元件時發現可能會出現元件有供電不足的情況 之前也有發生熱當 或許是供電品質和散熱出現問題</a:t>
            </a: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Discussion(s)/ Blockers:</a:t>
            </a:r>
          </a:p>
          <a:p>
            <a:pPr marL="1485900" lvl="2" indent="-342900"/>
            <a:r>
              <a:rPr lang="en-US" dirty="0"/>
              <a:t>“We are blocked on X and need a decision on Y."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Next Steps:</a:t>
            </a:r>
            <a:r>
              <a:rPr lang="zh-TW" altLang="en-US" dirty="0"/>
              <a:t>替換符合需求的供電模組</a:t>
            </a:r>
            <a:r>
              <a:rPr lang="en-US" altLang="zh-TW" dirty="0"/>
              <a:t>(</a:t>
            </a:r>
            <a:r>
              <a:rPr lang="zh-TW" altLang="en-US" dirty="0"/>
              <a:t>價錢和功能比較圖</a:t>
            </a:r>
            <a:r>
              <a:rPr lang="en-US" altLang="zh-TW" dirty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58845-244E-B3CB-D4E7-E0F089B2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6A028-39BD-150C-CA70-886E060F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3616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Budget v0.1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Power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Current @12V (A)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Jetson AGX Orin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3.75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RealSense D405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0.13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RealSense D435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RoboSense E1R (x2)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MCU (Nuvoton M467HJ)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pic>
        <p:nvPicPr>
          <p:cNvPr id="6" name="Picture 5" descr="pow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720</TotalTime>
  <Words>189</Words>
  <Application>Microsoft Office PowerPoint</Application>
  <PresentationFormat>寬螢幕</PresentationFormat>
  <Paragraphs>28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&lt;番茄採收載具V3/電控箱設計&gt; </vt:lpstr>
      <vt:lpstr>Task Objective &amp; Definition of Done</vt:lpstr>
      <vt:lpstr>This Week's Results &amp; Deliverables</vt:lpstr>
      <vt:lpstr>Analysis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 _A specific, descriptive title for your update_</dc:title>
  <dc:creator>Shang Wei Hsu</dc:creator>
  <cp:lastModifiedBy>子寓 戴</cp:lastModifiedBy>
  <cp:revision>3</cp:revision>
  <dcterms:created xsi:type="dcterms:W3CDTF">2025-09-10T23:46:10Z</dcterms:created>
  <dcterms:modified xsi:type="dcterms:W3CDTF">2025-09-23T14:05:55Z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