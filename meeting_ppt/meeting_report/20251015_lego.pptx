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628" r:id="rId3"/>
    <p:sldId id="629" r:id="rId4"/>
    <p:sldId id="640" r:id="rId5"/>
    <p:sldId id="611" r:id="rId6"/>
    <p:sldId id="634" r:id="rId7"/>
    <p:sldId id="633" r:id="rId8"/>
    <p:sldId id="636" r:id="rId9"/>
    <p:sldId id="635" r:id="rId10"/>
    <p:sldId id="637" r:id="rId11"/>
    <p:sldId id="638" r:id="rId12"/>
    <p:sldId id="639" r:id="rId13"/>
    <p:sldId id="624" r:id="rId14"/>
    <p:sldId id="606" r:id="rId1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Fira Sans Extra Condensed" panose="020F0502020204030204" pitchFamily="34" charset="0"/>
      <p:regular r:id="rId19"/>
      <p:bold r:id="rId20"/>
      <p:italic r:id="rId21"/>
      <p:boldItalic r:id="rId22"/>
    </p:embeddedFont>
    <p:embeddedFont>
      <p:font typeface="Fira Sans Extra Condensed SemiBold" panose="02020500000000000000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0824"/>
    <a:srgbClr val="F2F2F2"/>
    <a:srgbClr val="3D98DE"/>
    <a:srgbClr val="D9D9D9"/>
    <a:srgbClr val="D8C0CB"/>
    <a:srgbClr val="FBF4CB"/>
    <a:srgbClr val="F7EA97"/>
    <a:srgbClr val="B7DED2"/>
    <a:srgbClr val="6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 autoAdjust="0"/>
    <p:restoredTop sz="88300" autoAdjust="0"/>
  </p:normalViewPr>
  <p:slideViewPr>
    <p:cSldViewPr snapToGrid="0">
      <p:cViewPr varScale="1">
        <p:scale>
          <a:sx n="107" d="100"/>
          <a:sy n="107" d="100"/>
        </p:scale>
        <p:origin x="609" y="45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2025/10/15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5F008D86-DC28-9C37-E6FD-E62054CC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68AF2BD-AD8F-4B14-625F-8DD616B3D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C72B8DD9-1048-E3DE-8076-C24185B23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291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918F6D-1406-56CA-D765-D0C1E603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2207D-C10C-C4D3-A64E-30D6ADBB5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35B61F78-78C3-B143-1AEE-97ED4F6CD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424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1C47BCC-A873-2F58-B930-146D367B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9E3C071-C1A7-C84A-9B76-D85C081F0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7F35F78-A289-E416-D228-88632BE1A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23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383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35D8EAF-3D98-B460-217A-D62E10C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A4DE91C-A806-1947-E879-8EE25C22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4D50807-9EE3-0BC8-E183-800FCA16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74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BF50803-4E8C-911E-504A-10EF23C6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CA060DE4-F20B-FF66-E90B-BC0133631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D03E5D5-0219-00AB-F90D-5F2B8E1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082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1589EB3-115F-726E-B667-F7E0F878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DB904A3-56DD-62C4-F7AB-02FB41613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89FA515-B014-04B7-E6E4-8B635C07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252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09A48064-91EB-CB87-5681-C6C153AD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3BDAED8-20BB-ECDB-A70D-85A5114AB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10488C8A-3342-C6F0-8863-C59EDCEC1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20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8185627-C186-3DAB-074C-02EF828D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069B6E6-274E-7F62-E445-6E2649D17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256A21F-355B-30D2-0F17-0506CC681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239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D34E71D-1D59-5A5E-A120-82BE7476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63C31E7-F52B-1924-CCFD-64CBE43CA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984F716C-6C95-7A76-6BD2-19FFE4AE7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062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F71ECC7-9AEF-1748-2B73-F91DA584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40AFA9B-4BE9-A914-614A-29D541987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91AD482-1F5E-E7E7-08AF-E83C593F4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9951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7CD33F-8563-174E-AE3D-178A8AA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42B50-68A3-4BCD-884D-4ABF1F6C7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ADE0EC6E-6684-380B-E5F2-6CEE28B3B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3666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627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mailto:b11602057@ntu.edu.tw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plyen@n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com/rm_vision/ros2-hik-camera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ros.org/en/rolling/p/camera_calibration/doc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enomatix.com/lidar/xenolidar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robosense.ai/en/IncrementalComponents/E1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hyperlink" Target="https://cdn.neuvition.com/products/titan-s2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edomtech.com/zh-tw/product-detail/innovizone-solid-state-lidar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US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 and LiDAR Comparison</a:t>
            </a:r>
            <a:endParaRPr sz="27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1929581"/>
            <a:ext cx="7572138" cy="12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Presenter: </a:t>
            </a:r>
            <a:r>
              <a:rPr lang="en-US" altLang="zh-TW" sz="16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Ting-Yun Chien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Advisor: Ping-Lang Yen Ph.D.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19</a:t>
            </a:r>
            <a:r>
              <a:rPr lang="en-US" altLang="zh-TW" baseline="3000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th</a:t>
            </a:r>
            <a:r>
              <a:rPr lang="en-US" altLang="zh-TW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September, 2025, Summer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RMML Meeting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46447D95-D937-4153-89AE-5B1D288B4F8D}"/>
              </a:ext>
            </a:extLst>
          </p:cNvPr>
          <p:cNvSpPr txBox="1">
            <a:spLocks/>
          </p:cNvSpPr>
          <p:nvPr/>
        </p:nvSpPr>
        <p:spPr>
          <a:xfrm>
            <a:off x="249" y="3761273"/>
            <a:ext cx="3673361" cy="115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    Ting-Yun Chien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3"/>
              </a:rPr>
              <a:t>b11602057@ntu.edu.tw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    Ping-Lang Yen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4"/>
              </a:rPr>
              <a:t>plyen@ntu.edu.tw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81" y="3604600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820" y="3625227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4930390" y="3604040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DCFABA11-CB97-10DC-B2DF-A484D840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E77E19-A792-3069-0609-C765D0E87EC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362C90ED-FBDC-723F-A092-E608043D588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E94D909-001F-975F-6855-8C0CA8738073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E275D26-CF11-3353-DE00-9F29DAAAD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6AC121C9-0053-7485-E4AB-0C8A7A7C4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CC2EC67C-AF46-13B2-112D-4044CFA101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CBB46C-4FD2-5E27-5975-777A8E619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1" name="Google Shape;2366;p43">
            <a:extLst>
              <a:ext uri="{FF2B5EF4-FFF2-40B4-BE49-F238E27FC236}">
                <a16:creationId xmlns:a16="http://schemas.microsoft.com/office/drawing/2014/main" id="{262FEBC9-31CC-02EC-3F04-52CE392E2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2400" baseline="300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3F2030E5-1E74-9850-C247-D7FBC48DBF10}"/>
              </a:ext>
            </a:extLst>
          </p:cNvPr>
          <p:cNvSpPr txBox="1">
            <a:spLocks/>
          </p:cNvSpPr>
          <p:nvPr/>
        </p:nvSpPr>
        <p:spPr>
          <a:xfrm>
            <a:off x="236422" y="766600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30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2FD154DA-4E9E-D5A6-B01B-8A37BD8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3791CF-CDA5-F797-625F-94891919449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B74DFA5D-C256-C540-05D2-6FEF1E576141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D89570-0376-7C01-BF26-AB33C928670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9F0C2EE8-9567-8304-FEDA-89115EE85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972CD41-3E12-A5BB-DCFA-56C7D5CC3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697E5A1-5996-77F8-1429-F8464D764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04583-A7DC-0594-D76C-F2F1F41BBD20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Official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ROS2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package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7"/>
              </a:rPr>
              <a:t>camera_calibration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Camera driver: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8"/>
              </a:rPr>
              <a:t>hik_camera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Last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7×9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的自印棋盤格嘗試標定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25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可成功得到內參矩陣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未於牆上固定、棋盤格印製品質不佳可能影響標定結果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5F4270-6134-C4F4-C74D-6ED012672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1C901FCC-87D5-E4E1-B92E-F42620D67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8CEF060-0B1E-1134-26DE-5A5E538EBFB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F67AB972-02A2-6954-ABB6-5B936518D378}"/>
              </a:ext>
            </a:extLst>
          </p:cNvPr>
          <p:cNvGrpSpPr/>
          <p:nvPr/>
        </p:nvGrpSpPr>
        <p:grpSpPr>
          <a:xfrm>
            <a:off x="3404165" y="3124217"/>
            <a:ext cx="5064525" cy="1932600"/>
            <a:chOff x="521027" y="2204873"/>
            <a:chExt cx="5513260" cy="2069426"/>
          </a:xfrm>
        </p:grpSpPr>
        <p:pic>
          <p:nvPicPr>
            <p:cNvPr id="14" name="圖片 13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7CA09A05-ADF0-0C12-94D9-17ED1ECE0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022" r="21189"/>
            <a:stretch>
              <a:fillRect/>
            </a:stretch>
          </p:blipFill>
          <p:spPr>
            <a:xfrm>
              <a:off x="521027" y="2204873"/>
              <a:ext cx="2645530" cy="2069426"/>
            </a:xfrm>
            <a:prstGeom prst="rect">
              <a:avLst/>
            </a:prstGeom>
          </p:spPr>
        </p:pic>
        <p:pic>
          <p:nvPicPr>
            <p:cNvPr id="20" name="圖片 19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37CF542E-A96F-B102-A1BA-72F82F7A3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0927" t="1" r="20942" b="2038"/>
            <a:stretch>
              <a:fillRect/>
            </a:stretch>
          </p:blipFill>
          <p:spPr>
            <a:xfrm>
              <a:off x="3363970" y="2204873"/>
              <a:ext cx="2670317" cy="2069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56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1123EE-2C58-3FAE-0052-A0CE81A1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13401E-A8C8-6088-8C42-5CD67411FA0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97B7875C-1AE8-D08A-43C9-2D526DF53D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37506E4-BC56-4215-221A-1D5C2839AC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CE7635BA-52BE-CED4-0B57-E9067F556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3D484AAB-CEF0-DF32-20DC-CB40C47C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7B5A8EB-96C5-5961-EDF3-3FF29C97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C26458-823E-BAF1-ACD2-A7C7AE62F21C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This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以實驗室現有的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5×8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的棋盤格標定板進行標定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30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啞光紙面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+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壓克力背板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固定於牆面上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得到可後續運用於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FAST-Calib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上的內參矩陣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B6DEB9-3355-1C00-72B9-FCB3A0940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F52885CC-6F3C-30BF-8D7F-920FE7B8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ED60094-4945-A7B1-6B92-D2DFEA7C5D6F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文字, 棋, 圖板遊戲, 正方形 的圖片&#10;&#10;AI 產生的內容可能不正確。">
            <a:extLst>
              <a:ext uri="{FF2B5EF4-FFF2-40B4-BE49-F238E27FC236}">
                <a16:creationId xmlns:a16="http://schemas.microsoft.com/office/drawing/2014/main" id="{934D2C10-E94F-2A41-713B-4652482AD9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096" t="6922" r="22155" b="32066"/>
          <a:stretch>
            <a:fillRect/>
          </a:stretch>
        </p:blipFill>
        <p:spPr>
          <a:xfrm>
            <a:off x="5570220" y="1777162"/>
            <a:ext cx="2441647" cy="297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System Overview: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Zheng, C., &amp; Zhang, F. (2025). FAST-Calib: LiDAR-Camera Extrinsic Calibration in One Second. 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arXiv:2507.17210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. https://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arxiv.org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/abs/2507.17210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3F0BE8F-C57E-29AB-2139-B038E1FB80D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 descr="一張含有 文字, 螢幕擷取畫面, 千斤頂 的圖片&#10;&#10;AI 產生的內容可能不正確。">
            <a:extLst>
              <a:ext uri="{FF2B5EF4-FFF2-40B4-BE49-F238E27FC236}">
                <a16:creationId xmlns:a16="http://schemas.microsoft.com/office/drawing/2014/main" id="{79B0565F-CC36-71B5-40D1-9ED011A7B2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328"/>
          <a:stretch>
            <a:fillRect/>
          </a:stretch>
        </p:blipFill>
        <p:spPr>
          <a:xfrm>
            <a:off x="666940" y="1239471"/>
            <a:ext cx="6983188" cy="2910242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29A33D-F1C2-F1BA-5729-0D661E2039B0}"/>
              </a:ext>
            </a:extLst>
          </p:cNvPr>
          <p:cNvSpPr txBox="1"/>
          <p:nvPr/>
        </p:nvSpPr>
        <p:spPr>
          <a:xfrm>
            <a:off x="3287437" y="1100970"/>
            <a:ext cx="2337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 to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biggest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/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/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20850C-DCB9-F6DD-33FE-DB68B47B3635}"/>
              </a:ext>
            </a:extLst>
          </p:cNvPr>
          <p:cNvSpPr txBox="1"/>
          <p:nvPr/>
        </p:nvSpPr>
        <p:spPr>
          <a:xfrm>
            <a:off x="7448390" y="2450176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Kabsch+SVD</a:t>
            </a:r>
            <a:endParaRPr lang="en-US" altLang="zh-TW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(rigid registration)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D6658E3-B357-A4F5-091C-89F526DB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08447C-354D-1CFF-F9EA-A6D07DDF880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B7C00A8-F33C-3077-D1DC-38798F6DC8F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325F6A8-7961-8E5B-5EC3-54B30020847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D15C292-2A04-C624-069B-795B2E9AE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1C6C744A-6DBF-8146-6F9D-4D55B27B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765671B5-8B64-6AD8-6245-DB3A172EC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8C3E2C-67C0-1944-CB55-C50E557CD445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標定板尺寸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:1400 mm * 1000 mm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材質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壓克力板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厚度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 mm) +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道林紙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150p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8E2D58-0616-E730-D4AB-44BBB374B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DE067B8-CEAF-9CB7-F9D7-E2730B8D5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8B6EFC8-264A-9795-68BF-51B742D752B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圖表, 圓形, 工程製圖, 行 的圖片&#10;&#10;AI 產生的內容可能不正確。">
            <a:extLst>
              <a:ext uri="{FF2B5EF4-FFF2-40B4-BE49-F238E27FC236}">
                <a16:creationId xmlns:a16="http://schemas.microsoft.com/office/drawing/2014/main" id="{16252A85-CF51-0428-38BF-9B9CF56AF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931" y="1431236"/>
            <a:ext cx="4302005" cy="2843064"/>
          </a:xfrm>
          <a:prstGeom prst="rect">
            <a:avLst/>
          </a:prstGeom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05427A55-0CBA-11ED-7719-7A6DDED06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861" y="1701793"/>
            <a:ext cx="3448402" cy="2463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597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76648E3B-6D41-6E08-9598-6390EA80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3250CF-7AA3-4C8F-F65A-AE3603900D6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B9E05A3-5D80-7ABB-4CBD-0BC5E9C5502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63F3572-75E9-9123-A6CD-4FA5F3611BA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37DC8D28-66DB-9945-78BE-31B5D1933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F1250723-8359-2B9A-E261-3AA38ED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8670A5C-713E-A65E-BB52-560E94D50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Camera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偵測四個在板上固定位置的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ArUco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已知資訊：相機內參矩陣、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的真實尺寸與位置、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在影像裡的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2D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投影→ 算出標定板在相機座標系的位置與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pose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推算出在相機座標系下四個圓孔的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得到相機偵測到的圓孔中心點集合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77283A-C5CB-702D-63F1-052AC6B5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91A6EF89-16B5-C6DD-72E1-B06C67A43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05BE5A2-E958-40EB-2A1B-E5CF3B4569CD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FAC6E4F4-DBD3-D790-D60A-87997AC0C7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52" y="2938439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C6EA0AE-59FC-A8D2-0916-79A4C1E901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9433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AB599F07-4EBF-199D-4427-62FD7A9A0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0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FF3FDEC-E9E3-6674-3E99-C3571E89470D}"/>
              </a:ext>
            </a:extLst>
          </p:cNvPr>
          <p:cNvSpPr/>
          <p:nvPr/>
        </p:nvSpPr>
        <p:spPr>
          <a:xfrm>
            <a:off x="373380" y="302514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FFE88-DAD2-85FF-A631-719B6D82D359}"/>
              </a:ext>
            </a:extLst>
          </p:cNvPr>
          <p:cNvSpPr/>
          <p:nvPr/>
        </p:nvSpPr>
        <p:spPr>
          <a:xfrm>
            <a:off x="36576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78DBCF-EC28-BD61-AB95-AF8505527D65}"/>
              </a:ext>
            </a:extLst>
          </p:cNvPr>
          <p:cNvSpPr/>
          <p:nvPr/>
        </p:nvSpPr>
        <p:spPr>
          <a:xfrm>
            <a:off x="2217420" y="303276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BAA44-BD95-B839-9F70-BB57694DA516}"/>
              </a:ext>
            </a:extLst>
          </p:cNvPr>
          <p:cNvSpPr/>
          <p:nvPr/>
        </p:nvSpPr>
        <p:spPr>
          <a:xfrm>
            <a:off x="221742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2D28538-2EB0-C9A6-8503-900DA67D0A2A}"/>
              </a:ext>
            </a:extLst>
          </p:cNvPr>
          <p:cNvSpPr/>
          <p:nvPr/>
        </p:nvSpPr>
        <p:spPr>
          <a:xfrm>
            <a:off x="36576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053AC7D-F111-B215-1C7C-18020CC6AB01}"/>
              </a:ext>
            </a:extLst>
          </p:cNvPr>
          <p:cNvSpPr/>
          <p:nvPr/>
        </p:nvSpPr>
        <p:spPr>
          <a:xfrm>
            <a:off x="220980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4B11809-0A35-2C42-D69C-525C8C3A8490}"/>
              </a:ext>
            </a:extLst>
          </p:cNvPr>
          <p:cNvSpPr/>
          <p:nvPr/>
        </p:nvSpPr>
        <p:spPr>
          <a:xfrm>
            <a:off x="221742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EFFC669-B7BA-A81E-A9AE-BCE78F0FE5E3}"/>
              </a:ext>
            </a:extLst>
          </p:cNvPr>
          <p:cNvSpPr/>
          <p:nvPr/>
        </p:nvSpPr>
        <p:spPr>
          <a:xfrm>
            <a:off x="36576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2A95731-DE0C-5D53-AB2E-9BDDEBB32FED}"/>
              </a:ext>
            </a:extLst>
          </p:cNvPr>
          <p:cNvSpPr txBox="1"/>
          <p:nvPr/>
        </p:nvSpPr>
        <p:spPr>
          <a:xfrm>
            <a:off x="272845" y="2700735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id=1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EB24BCB-7ED5-C07D-3DAC-A2E6AF89B53E}"/>
              </a:ext>
            </a:extLst>
          </p:cNvPr>
          <p:cNvSpPr txBox="1"/>
          <p:nvPr/>
        </p:nvSpPr>
        <p:spPr>
          <a:xfrm>
            <a:off x="2124055" y="269181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id=2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0E10083-6E8F-9B8C-B00C-1ACEE4509210}"/>
              </a:ext>
            </a:extLst>
          </p:cNvPr>
          <p:cNvSpPr txBox="1"/>
          <p:nvPr/>
        </p:nvSpPr>
        <p:spPr>
          <a:xfrm>
            <a:off x="250803" y="388666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id=3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A28E474-82A3-9C1F-A5A1-5591F3CCF419}"/>
              </a:ext>
            </a:extLst>
          </p:cNvPr>
          <p:cNvSpPr txBox="1"/>
          <p:nvPr/>
        </p:nvSpPr>
        <p:spPr>
          <a:xfrm>
            <a:off x="2094624" y="387904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id=4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1FCD612-B25E-9828-A770-C2659B6E20C5}"/>
              </a:ext>
            </a:extLst>
          </p:cNvPr>
          <p:cNvCxnSpPr/>
          <p:nvPr/>
        </p:nvCxnSpPr>
        <p:spPr>
          <a:xfrm flipV="1">
            <a:off x="4351020" y="3188347"/>
            <a:ext cx="0" cy="58134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E2B95C3-5DF1-B8F3-A728-340D8802291C}"/>
              </a:ext>
            </a:extLst>
          </p:cNvPr>
          <p:cNvCxnSpPr>
            <a:cxnSpLocks/>
          </p:cNvCxnSpPr>
          <p:nvPr/>
        </p:nvCxnSpPr>
        <p:spPr>
          <a:xfrm flipV="1">
            <a:off x="4351020" y="3577292"/>
            <a:ext cx="0" cy="1847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6CEBA25-9ACD-2EFF-B395-ADC6087F9035}"/>
              </a:ext>
            </a:extLst>
          </p:cNvPr>
          <p:cNvCxnSpPr>
            <a:cxnSpLocks/>
          </p:cNvCxnSpPr>
          <p:nvPr/>
        </p:nvCxnSpPr>
        <p:spPr>
          <a:xfrm>
            <a:off x="4335780" y="3762070"/>
            <a:ext cx="5410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09A3729-4C1E-0F3C-FAEA-A04AF2B447A1}"/>
              </a:ext>
            </a:extLst>
          </p:cNvPr>
          <p:cNvCxnSpPr>
            <a:cxnSpLocks/>
          </p:cNvCxnSpPr>
          <p:nvPr/>
        </p:nvCxnSpPr>
        <p:spPr>
          <a:xfrm flipV="1">
            <a:off x="3426785" y="28457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39A8F82E-7128-B677-72E9-7EE3ABFC499E}"/>
              </a:ext>
            </a:extLst>
          </p:cNvPr>
          <p:cNvCxnSpPr>
            <a:cxnSpLocks/>
          </p:cNvCxnSpPr>
          <p:nvPr/>
        </p:nvCxnSpPr>
        <p:spPr>
          <a:xfrm flipV="1">
            <a:off x="3426785" y="30479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4A162E6-D5FA-FF96-6F4B-9364550C7E69}"/>
              </a:ext>
            </a:extLst>
          </p:cNvPr>
          <p:cNvCxnSpPr>
            <a:cxnSpLocks/>
          </p:cNvCxnSpPr>
          <p:nvPr/>
        </p:nvCxnSpPr>
        <p:spPr>
          <a:xfrm flipV="1">
            <a:off x="3411545" y="31807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EF66F6E4-0560-AFF6-2E58-563A64FC4DC1}"/>
              </a:ext>
            </a:extLst>
          </p:cNvPr>
          <p:cNvCxnSpPr>
            <a:cxnSpLocks/>
          </p:cNvCxnSpPr>
          <p:nvPr/>
        </p:nvCxnSpPr>
        <p:spPr>
          <a:xfrm flipV="1">
            <a:off x="5263515" y="2866844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26B5C240-DD80-D1D8-B85B-CAFC16964456}"/>
              </a:ext>
            </a:extLst>
          </p:cNvPr>
          <p:cNvCxnSpPr>
            <a:cxnSpLocks/>
          </p:cNvCxnSpPr>
          <p:nvPr/>
        </p:nvCxnSpPr>
        <p:spPr>
          <a:xfrm flipV="1">
            <a:off x="5263515" y="3069141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EC8FF0B-C159-1A02-C5B4-2885A569A3E6}"/>
              </a:ext>
            </a:extLst>
          </p:cNvPr>
          <p:cNvCxnSpPr>
            <a:cxnSpLocks/>
          </p:cNvCxnSpPr>
          <p:nvPr/>
        </p:nvCxnSpPr>
        <p:spPr>
          <a:xfrm flipV="1">
            <a:off x="5248275" y="3201869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3694EABB-7402-35C7-7836-C15812D4724A}"/>
              </a:ext>
            </a:extLst>
          </p:cNvPr>
          <p:cNvCxnSpPr>
            <a:cxnSpLocks/>
          </p:cNvCxnSpPr>
          <p:nvPr/>
        </p:nvCxnSpPr>
        <p:spPr>
          <a:xfrm flipV="1">
            <a:off x="3426785" y="40268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D949E6C8-4506-52CA-4F00-CCC80BEB2B9F}"/>
              </a:ext>
            </a:extLst>
          </p:cNvPr>
          <p:cNvCxnSpPr>
            <a:cxnSpLocks/>
          </p:cNvCxnSpPr>
          <p:nvPr/>
        </p:nvCxnSpPr>
        <p:spPr>
          <a:xfrm flipV="1">
            <a:off x="3426785" y="42290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D0C81E2-12B3-C76D-C194-4F9056DBA8F7}"/>
              </a:ext>
            </a:extLst>
          </p:cNvPr>
          <p:cNvCxnSpPr>
            <a:cxnSpLocks/>
          </p:cNvCxnSpPr>
          <p:nvPr/>
        </p:nvCxnSpPr>
        <p:spPr>
          <a:xfrm flipV="1">
            <a:off x="3411545" y="43618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24834363-0B4A-7138-7C4B-2E032842F4F9}"/>
              </a:ext>
            </a:extLst>
          </p:cNvPr>
          <p:cNvCxnSpPr>
            <a:cxnSpLocks/>
          </p:cNvCxnSpPr>
          <p:nvPr/>
        </p:nvCxnSpPr>
        <p:spPr>
          <a:xfrm flipV="1">
            <a:off x="5263515" y="404204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A5D3DDFD-99AE-5D9A-2933-DB4BFE0EC103}"/>
              </a:ext>
            </a:extLst>
          </p:cNvPr>
          <p:cNvCxnSpPr>
            <a:cxnSpLocks/>
          </p:cNvCxnSpPr>
          <p:nvPr/>
        </p:nvCxnSpPr>
        <p:spPr>
          <a:xfrm flipV="1">
            <a:off x="5263515" y="424433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9C4F6BF-1F16-50B0-B41D-56CB2E75CE73}"/>
              </a:ext>
            </a:extLst>
          </p:cNvPr>
          <p:cNvCxnSpPr>
            <a:cxnSpLocks/>
          </p:cNvCxnSpPr>
          <p:nvPr/>
        </p:nvCxnSpPr>
        <p:spPr>
          <a:xfrm flipV="1">
            <a:off x="5248275" y="437706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64E58033-1387-F895-3754-9A37952E3E0C}"/>
              </a:ext>
            </a:extLst>
          </p:cNvPr>
          <p:cNvCxnSpPr/>
          <p:nvPr/>
        </p:nvCxnSpPr>
        <p:spPr>
          <a:xfrm>
            <a:off x="2750820" y="38182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4BA4FABC-2994-A5D3-7382-B108B1799422}"/>
              </a:ext>
            </a:extLst>
          </p:cNvPr>
          <p:cNvCxnSpPr/>
          <p:nvPr/>
        </p:nvCxnSpPr>
        <p:spPr>
          <a:xfrm>
            <a:off x="5684520" y="3834162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6FF529F5-78CA-63BF-7FA8-AC0C8EEB1751}"/>
              </a:ext>
            </a:extLst>
          </p:cNvPr>
          <p:cNvSpPr/>
          <p:nvPr/>
        </p:nvSpPr>
        <p:spPr>
          <a:xfrm>
            <a:off x="68199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7ACF7264-4DAF-831F-E6EB-80881E9BDB70}"/>
              </a:ext>
            </a:extLst>
          </p:cNvPr>
          <p:cNvSpPr/>
          <p:nvPr/>
        </p:nvSpPr>
        <p:spPr>
          <a:xfrm>
            <a:off x="76581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99828677-9CDB-E8D2-0DB1-9A13D1E6D35D}"/>
              </a:ext>
            </a:extLst>
          </p:cNvPr>
          <p:cNvSpPr/>
          <p:nvPr/>
        </p:nvSpPr>
        <p:spPr>
          <a:xfrm>
            <a:off x="76581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AD94F441-EFB1-D0AE-1CE3-60C4995E59C6}"/>
              </a:ext>
            </a:extLst>
          </p:cNvPr>
          <p:cNvSpPr/>
          <p:nvPr/>
        </p:nvSpPr>
        <p:spPr>
          <a:xfrm>
            <a:off x="68199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/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4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C8E5E33-9BA1-86E3-3FC6-A4831BC5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74A7F2-44FA-52D2-C96A-F806A654F05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6CEDE018-F145-8BA0-11DE-E473D43D121F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525835B-E741-7390-7438-A9D12E15228B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A86DBE65-0398-19E3-4AD2-222DDB80D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284F37B9-6606-02E1-A356-EAC33052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88293EB-239C-51F8-2DED-DE52861E9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F491DD-080C-1783-D729-C4693AE95D1A}"/>
              </a:ext>
            </a:extLst>
          </p:cNvPr>
          <p:cNvSpPr txBox="1">
            <a:spLocks/>
          </p:cNvSpPr>
          <p:nvPr/>
        </p:nvSpPr>
        <p:spPr>
          <a:xfrm>
            <a:off x="230703" y="751193"/>
            <a:ext cx="739582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ROI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三軸上的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Pass-through filter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：粗略濾掉不必要的點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做平面分割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隨機取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個點形成一平面，找到具有距離該平面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0.01m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內最多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inliers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的平面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	</a:t>
            </a: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46A22A-9A3C-6AF6-6AD2-E72000B77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053BB78B-9D8C-CDF8-78D7-C732873CA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FBA3E46-0C2B-81EF-5B37-5E446F0EE170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943359A-48C2-E363-6B50-01F429A16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753" y="3004461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C31EF359-4B1C-B653-522D-938C64DFE2F0}"/>
              </a:ext>
            </a:extLst>
          </p:cNvPr>
          <p:cNvSpPr/>
          <p:nvPr/>
        </p:nvSpPr>
        <p:spPr>
          <a:xfrm>
            <a:off x="1103235" y="2691710"/>
            <a:ext cx="2804198" cy="195203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保留標定板所在的平面點雲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19EA577-59C0-E0F9-9108-7181DB401DFD}"/>
              </a:ext>
            </a:extLst>
          </p:cNvPr>
          <p:cNvSpPr txBox="1"/>
          <p:nvPr/>
        </p:nvSpPr>
        <p:spPr>
          <a:xfrm>
            <a:off x="1925705" y="2355054"/>
            <a:ext cx="1520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原始掃描區域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D5FDE51-223F-2384-A4AF-C174E0053115}"/>
              </a:ext>
            </a:extLst>
          </p:cNvPr>
          <p:cNvCxnSpPr/>
          <p:nvPr/>
        </p:nvCxnSpPr>
        <p:spPr>
          <a:xfrm>
            <a:off x="4251960" y="36277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EBC3129-20A7-126C-93A8-420EDC5DAAE1}"/>
              </a:ext>
            </a:extLst>
          </p:cNvPr>
          <p:cNvSpPr/>
          <p:nvPr/>
        </p:nvSpPr>
        <p:spPr>
          <a:xfrm>
            <a:off x="1382219" y="2899999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75CC0CA-CC81-9E99-5786-EC641825D52B}"/>
              </a:ext>
            </a:extLst>
          </p:cNvPr>
          <p:cNvSpPr txBox="1"/>
          <p:nvPr/>
        </p:nvSpPr>
        <p:spPr>
          <a:xfrm>
            <a:off x="1820110" y="2658111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pic>
        <p:nvPicPr>
          <p:cNvPr id="19" name="圖片 18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20D8CEF2-BE99-76A1-F8C5-E6A54C423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413" y="3025319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05F89CB-48F9-0191-208C-E39CAD120B06}"/>
              </a:ext>
            </a:extLst>
          </p:cNvPr>
          <p:cNvSpPr/>
          <p:nvPr/>
        </p:nvSpPr>
        <p:spPr>
          <a:xfrm>
            <a:off x="4935879" y="2920857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356C913-D1FA-5212-AED5-B8773D0E414A}"/>
              </a:ext>
            </a:extLst>
          </p:cNvPr>
          <p:cNvSpPr txBox="1"/>
          <p:nvPr/>
        </p:nvSpPr>
        <p:spPr>
          <a:xfrm>
            <a:off x="5207034" y="2586884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C98280-CEA9-9AC3-8D28-F7099703FCF9}"/>
              </a:ext>
            </a:extLst>
          </p:cNvPr>
          <p:cNvSpPr/>
          <p:nvPr/>
        </p:nvSpPr>
        <p:spPr>
          <a:xfrm>
            <a:off x="5040413" y="3005539"/>
            <a:ext cx="1916783" cy="13981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CFA0D48-5F25-6E91-26B0-8240F60B00F1}"/>
              </a:ext>
            </a:extLst>
          </p:cNvPr>
          <p:cNvSpPr txBox="1"/>
          <p:nvPr/>
        </p:nvSpPr>
        <p:spPr>
          <a:xfrm>
            <a:off x="5177466" y="3550722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rgbClr val="0000FF"/>
                </a:solidFill>
              </a:rPr>
              <a:t>取的平面</a:t>
            </a:r>
          </a:p>
        </p:txBody>
      </p:sp>
    </p:spTree>
    <p:extLst>
      <p:ext uri="{BB962C8B-B14F-4D97-AF65-F5344CB8AC3E}">
        <p14:creationId xmlns:p14="http://schemas.microsoft.com/office/powerpoint/2010/main" val="20559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C7E9F9D-13F0-E8D6-8E01-A84FD0BE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2923B8-087C-AFE4-4D69-3CD68ED5D94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DF0DFD2C-C8D1-8577-7002-84405E9EDA4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F30F551-5233-A7C3-A213-8941A6BFDA1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659E7D6-DA94-203B-0A36-53F9D9A95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C886D97-F38E-41B8-B40C-87715AA89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6EC8E8B-82CA-0A23-DD1E-107C5F1CE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B3D186-FA68-9F58-9DE2-6D394057EC78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761680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 startAt="2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Hole Edge &amp; Center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Voxel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downsampling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把點雲用邊長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8mm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的立方體格子切分，每個小格取一個代表點。</a:t>
            </a: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目的：減少點雲數、降低計算量，同時保留整體幾何形狀。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Plane alignment: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把剛才找出的標定板平面旋轉對齊到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z=0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平面，從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轉成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2D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02DFA0-1D45-56CC-EEF6-869F05A91A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D29E318-83F5-06B0-43B0-1EF3AB094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464497B-98C4-6393-6966-9F77A0ACC6D2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466A4E5C-5E05-65CD-41E3-057E75C31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481732"/>
            <a:ext cx="3299943" cy="23575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C6F36687-9B72-D050-C7B6-F837E109F4BD}"/>
              </a:ext>
            </a:extLst>
          </p:cNvPr>
          <p:cNvSpPr txBox="1"/>
          <p:nvPr/>
        </p:nvSpPr>
        <p:spPr>
          <a:xfrm>
            <a:off x="3351069" y="350661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z=0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105ED59-0C40-BEAB-EC7F-D2DB51D8FD77}"/>
              </a:ext>
            </a:extLst>
          </p:cNvPr>
          <p:cNvCxnSpPr>
            <a:cxnSpLocks/>
          </p:cNvCxnSpPr>
          <p:nvPr/>
        </p:nvCxnSpPr>
        <p:spPr>
          <a:xfrm>
            <a:off x="4073131" y="2982822"/>
            <a:ext cx="0" cy="76367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DCF9BE0-1CF4-1157-781B-85E7F0AAAF49}"/>
              </a:ext>
            </a:extLst>
          </p:cNvPr>
          <p:cNvCxnSpPr>
            <a:cxnSpLocks/>
          </p:cNvCxnSpPr>
          <p:nvPr/>
        </p:nvCxnSpPr>
        <p:spPr>
          <a:xfrm>
            <a:off x="4063055" y="3738881"/>
            <a:ext cx="7627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27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5FF3D105-7527-2AC6-66BE-5DDFAAED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E83B21-AC80-8027-097C-123358F586B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FAFC835-2919-BE3F-A469-510105124092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626A599-50F8-EB2E-AEC3-ABAA8452AE8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1F4CC900-FFA2-049F-5A5D-9948FC405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26A4785-96AC-80C5-8FD4-FA61345CE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9014F6B-9CF3-6378-56F5-5870EC7D7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判斷是否為圓孔邊緣點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對每個點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找出半徑 </a:t>
                </a:r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0.03 m 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範圍內的鄰近點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計算它們相對於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的方位角：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atan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2(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 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依大小排序，得到：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≤⋯≤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計算相鄰角度差：</a:t>
                </a:r>
                <a:r>
                  <a:rPr lang="en-US" altLang="zh-TW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for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485900" lvl="3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zh-TW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如果最大間</a:t>
                </a: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隔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，則此點在該方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位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無鄰近點→此點為邊緣點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CD7AFA-6ACB-0534-615C-4AFF647CB4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9A69D66-A2E7-FFE5-B20F-2221497BF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7E169D1F-21DE-17D2-A155-5C20F16BC091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A6C975-F262-60FC-BDDA-ED8F8339B520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9D56FAF-9FA7-5858-D39C-69487F231FE6}"/>
              </a:ext>
            </a:extLst>
          </p:cNvPr>
          <p:cNvSpPr/>
          <p:nvPr/>
        </p:nvSpPr>
        <p:spPr>
          <a:xfrm>
            <a:off x="7219950" y="19964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/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橢圓 17">
            <a:extLst>
              <a:ext uri="{FF2B5EF4-FFF2-40B4-BE49-F238E27FC236}">
                <a16:creationId xmlns:a16="http://schemas.microsoft.com/office/drawing/2014/main" id="{5E52181E-6BD3-C282-FBA7-ABDED7687401}"/>
              </a:ext>
            </a:extLst>
          </p:cNvPr>
          <p:cNvSpPr/>
          <p:nvPr/>
        </p:nvSpPr>
        <p:spPr>
          <a:xfrm>
            <a:off x="6398173" y="1238249"/>
            <a:ext cx="1652558" cy="1562100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/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=0.03 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9B3CBF30-7A94-AA50-15BE-8708A8B5B5C4}"/>
              </a:ext>
            </a:extLst>
          </p:cNvPr>
          <p:cNvSpPr/>
          <p:nvPr/>
        </p:nvSpPr>
        <p:spPr>
          <a:xfrm>
            <a:off x="7424301" y="1938147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E0479D2-41F2-CC01-EB8D-7BFB8953418D}"/>
              </a:ext>
            </a:extLst>
          </p:cNvPr>
          <p:cNvSpPr/>
          <p:nvPr/>
        </p:nvSpPr>
        <p:spPr>
          <a:xfrm>
            <a:off x="7501544" y="1686102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A77EB63-2F87-F6AD-7E17-C7E8113A777F}"/>
              </a:ext>
            </a:extLst>
          </p:cNvPr>
          <p:cNvSpPr/>
          <p:nvPr/>
        </p:nvSpPr>
        <p:spPr>
          <a:xfrm>
            <a:off x="6963411" y="2557604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8E6807B-3FDB-5098-EE36-6E968F52FEA9}"/>
              </a:ext>
            </a:extLst>
          </p:cNvPr>
          <p:cNvCxnSpPr>
            <a:cxnSpLocks/>
          </p:cNvCxnSpPr>
          <p:nvPr/>
        </p:nvCxnSpPr>
        <p:spPr>
          <a:xfrm>
            <a:off x="7224452" y="2030729"/>
            <a:ext cx="100569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632466B-0A6E-5482-3C59-8CE61C60CC18}"/>
              </a:ext>
            </a:extLst>
          </p:cNvPr>
          <p:cNvCxnSpPr>
            <a:cxnSpLocks/>
            <a:endCxn id="21" idx="6"/>
          </p:cNvCxnSpPr>
          <p:nvPr/>
        </p:nvCxnSpPr>
        <p:spPr>
          <a:xfrm flipV="1">
            <a:off x="7245638" y="1961007"/>
            <a:ext cx="224382" cy="72789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E0FF7F5B-5305-2C70-7FF7-214483055CAF}"/>
              </a:ext>
            </a:extLst>
          </p:cNvPr>
          <p:cNvCxnSpPr>
            <a:cxnSpLocks/>
            <a:endCxn id="22" idx="0"/>
          </p:cNvCxnSpPr>
          <p:nvPr/>
        </p:nvCxnSpPr>
        <p:spPr>
          <a:xfrm flipV="1">
            <a:off x="7253402" y="1686102"/>
            <a:ext cx="271002" cy="347693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D7F4C18-419E-7F2E-DEAE-164CD8388CA0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7002435" y="2034141"/>
            <a:ext cx="217515" cy="530158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/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弧形 156">
            <a:extLst>
              <a:ext uri="{FF2B5EF4-FFF2-40B4-BE49-F238E27FC236}">
                <a16:creationId xmlns:a16="http://schemas.microsoft.com/office/drawing/2014/main" id="{CF610AF1-0375-5E27-A619-72062F88C616}"/>
              </a:ext>
            </a:extLst>
          </p:cNvPr>
          <p:cNvSpPr/>
          <p:nvPr/>
        </p:nvSpPr>
        <p:spPr>
          <a:xfrm rot="19574104">
            <a:off x="6762715" y="1649974"/>
            <a:ext cx="999459" cy="932180"/>
          </a:xfrm>
          <a:prstGeom prst="arc">
            <a:avLst>
              <a:gd name="adj1" fmla="val 9354327"/>
              <a:gd name="adj2" fmla="val 19885747"/>
            </a:avLst>
          </a:prstGeom>
          <a:noFill/>
          <a:ln w="19050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4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0DAB4A9B-D1CB-D7D7-7089-2E13B705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093D43-B84E-85B7-E145-F531E69F33D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DA9A7F4-14EA-28DB-B72B-297D331EB273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F2A3F481-754E-5F95-A5EF-C53E6FF9973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C49DDA3-4F70-3D27-A68F-D53C92DCA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117BF9F-CD06-40CE-EBB4-298C15455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0B6E08F0-BB7E-F346-EF71-10E71A0B05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尋找圓孔中心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邊緣點用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Euclidean clustering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分組（設定某一距離內為同一組圓孔邊緣）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每組做橢圓擬合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𝐵𝑥𝑦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𝐷𝑥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𝐸𝑦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橢圓中心即為孔心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CD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BE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AE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可計算出圓孔的中心位置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3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Validation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長軸長度接近已知半徑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確認此孔接近圓形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 → 確定圓孔中心座標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將圓心座標轉回原始座標系（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）</a:t>
                </a: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看到的圓孔中心點集合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A0ADE7-639F-41E2-9035-49D9CE78F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8F179BE2-3AC7-BC62-FCE2-B35BE5926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E491AFA-B909-1116-9EE4-4FF14D5F68E8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07A1DBC-6E92-F1AF-F471-F54248C519B8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6B2BA99B-0DDA-5075-DC3E-383621C360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09F2900D-D541-F85C-D43C-829685AEEE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700741-0A83-87EA-8E19-47F5FD59C873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E1547E9-9707-F400-0C37-D13C4238C403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CCC014A-C78F-14D0-F9AF-9724C392FE5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/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FD7EE979-AF0D-23C8-314C-E74959D2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4C1CAC5-1902-E27D-DB43-E2B05BD2008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FCDA125-65A6-700D-2730-0286CE11D9C0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4D645E-E457-B5BC-4740-2C7EDDA22911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4A6E32C-8499-33FE-1472-412FEAB32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8E186C6-B309-583B-AF56-27C637D52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33398B0-E97A-65E5-A4D9-633263350F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Registration:</a:t>
                </a: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兩組對應圓心座標，找到一個剛體轉換矩陣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marL="571500" lvl="1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的點轉換到相機座標系：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zh-TW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sSup>
                      <m:sSup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Kabsch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+ SVD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sSup>
                          <m:sSup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p>
                                </m:s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𝐶𝐿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TW" altLang="en-US" i="1" dirty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不同的場景數，每個場景可取得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TW" dirty="0">
                    <a:solidFill>
                      <a:srgbClr val="2F0824"/>
                    </a:solidFill>
                  </a:rPr>
                  <a:t> </a:t>
                </a:r>
                <a:r>
                  <a:rPr lang="zh-TW" altLang="en-US" dirty="0">
                    <a:solidFill>
                      <a:srgbClr val="2F0824"/>
                    </a:solidFill>
                  </a:rPr>
                  <a:t>個圓心位置，所以總共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對應點</a:t>
                </a:r>
                <a:r>
                  <a:rPr lang="en-US" altLang="zh-TW" sz="1400" dirty="0">
                    <a:solidFill>
                      <a:srgbClr val="2F0824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得到最佳剛體轉換矩陣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43767B-80DA-56A9-42CB-B84A7D24A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B037FDB-0849-BCD5-DF1D-A27B824CC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894D910-CD98-2E40-A861-802A837EC6E7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1CED36-70A6-566B-0DB0-BADFB11476EF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391D92A0-71EA-4DAF-A987-07CE1C3FD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94BEEC63-CDA3-4601-30D0-2D89F41892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964478E-D49A-8F3F-3456-1A0D8579B7E5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A1C6136-3E9E-A289-F7DB-CBD613531666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4248997-B729-A75A-400B-30F5020DBB8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/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TW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/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13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904A141-109B-2DDB-7E72-A344695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BCF90CBE-00E6-615C-99DC-29AD2E51FC2F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剔除掉不符合需求的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價格資訊未公開→ 詢問廠商欲了解價格、交貨時長、更詳細的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datasheet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尚未取得回應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046396-E9F0-18F3-DDF6-057D7A641FC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2098F919-E60F-4D95-E06E-D93CED2E20B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89BF69-0FB5-DA84-D923-E876540F04E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4EDB1785-25E4-A03B-7F68-37B9E2A1EA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BEF7E54-D3E9-E909-60C5-4707E301F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4A88B1F8-A3BA-0651-F10D-9B9B179575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ED8B8A-BE7B-C553-2410-A7796F3DD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D99C5F4-7760-7AB2-8D0B-8D0D67EB9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Comparison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B7ABF8B0-BF40-1B70-832C-702649B7CF53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685F322-F33F-4934-DB3E-8B54C3EEA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06420"/>
              </p:ext>
            </p:extLst>
          </p:nvPr>
        </p:nvGraphicFramePr>
        <p:xfrm>
          <a:off x="350018" y="1858554"/>
          <a:ext cx="8099070" cy="2919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9814">
                  <a:extLst>
                    <a:ext uri="{9D8B030D-6E8A-4147-A177-3AD203B41FA5}">
                      <a16:colId xmlns:a16="http://schemas.microsoft.com/office/drawing/2014/main" val="176876330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81171384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4081411879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761433078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1522968950"/>
                    </a:ext>
                  </a:extLst>
                </a:gridCol>
              </a:tblGrid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Manufacturer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Robosense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Quanergy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Innoviz 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Neuvition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259599096"/>
                  </a:ext>
                </a:extLst>
              </a:tr>
              <a:tr h="1537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LiDAR model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7"/>
                        </a:rPr>
                        <a:t>E1R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8"/>
                        </a:rPr>
                        <a:t>Q- vision F540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9"/>
                        </a:rPr>
                        <a:t>InnovizOne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Titan </a:t>
                      </a:r>
                      <a:r>
                        <a:rPr lang="en-US" sz="1400" b="0" u="sng" dirty="0" err="1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S2</a:t>
                      </a: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-120</a:t>
                      </a:r>
                      <a:endParaRPr lang="en-US" sz="1400" b="0" u="sng" dirty="0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20340510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Origin country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China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Israel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4148128229"/>
                  </a:ext>
                </a:extLst>
              </a:tr>
              <a:tr h="4110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30m@10%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6m@10%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7.8m@18%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16m@80%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110m@10%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180m@50%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0.3-18m@20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478741812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FOV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120°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115° × 15°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120° × 70°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344593956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Avg. 0.625° × 0.625°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0.14° × 0.14°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0.1° × 0.1°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0.5° × 0.5°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419883868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$999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2054015201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Points returned per second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260k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10.8M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00537978"/>
                  </a:ext>
                </a:extLst>
              </a:tr>
              <a:tr h="4581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ROS driver availability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ROS1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/</a:t>
                      </a:r>
                      <a:b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ROS2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61294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425059" y="593985"/>
            <a:ext cx="8047399" cy="358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製作好標定板進行外參標定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於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202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實驗室收集點雲與影像試跑在未同步下的建圖結果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看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source code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深入了解重要的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module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及參數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27930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77726</TotalTime>
  <Words>1050</Words>
  <Application>Microsoft Office PowerPoint</Application>
  <PresentationFormat>如螢幕大小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Times New Roman</vt:lpstr>
      <vt:lpstr>Arial</vt:lpstr>
      <vt:lpstr>CMU Sans Serif</vt:lpstr>
      <vt:lpstr>Cambria Math</vt:lpstr>
      <vt:lpstr>Fira Sans Extra Condensed SemiBold</vt:lpstr>
      <vt:lpstr>PMingLiu</vt:lpstr>
      <vt:lpstr>CMU Sans Serif Medium</vt:lpstr>
      <vt:lpstr>Roboto</vt:lpstr>
      <vt:lpstr>Fira Sans Extra Condensed</vt:lpstr>
      <vt:lpstr>Wingdings</vt:lpstr>
      <vt:lpstr>Timeline Infographics by Slidesgo</vt:lpstr>
      <vt:lpstr>FAST-Calib and LiDAR Comparison</vt:lpstr>
      <vt:lpstr>Outline</vt:lpstr>
      <vt:lpstr>Intrinsic Calibration</vt:lpstr>
      <vt:lpstr>Intrinsic Calibration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LiDAR Comparison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eatshit!</dc:creator>
  <cp:lastModifiedBy>Lego Dai</cp:lastModifiedBy>
  <cp:revision>2467</cp:revision>
  <dcterms:modified xsi:type="dcterms:W3CDTF">2025-10-15T05:02:36Z</dcterms:modified>
</cp:coreProperties>
</file>