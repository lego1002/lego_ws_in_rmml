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56" r:id="rId2"/>
    <p:sldId id="628" r:id="rId3"/>
    <p:sldId id="629" r:id="rId4"/>
    <p:sldId id="640" r:id="rId5"/>
    <p:sldId id="611" r:id="rId6"/>
    <p:sldId id="641" r:id="rId7"/>
    <p:sldId id="634" r:id="rId8"/>
    <p:sldId id="642" r:id="rId9"/>
    <p:sldId id="633" r:id="rId10"/>
    <p:sldId id="636" r:id="rId11"/>
  </p:sldIdLst>
  <p:sldSz cx="9144000" cy="5143500" type="screen16x9"/>
  <p:notesSz cx="6858000" cy="9144000"/>
  <p:embeddedFontLst>
    <p:embeddedFont>
      <p:font typeface="Fira Sans Extra Condensed" panose="020B0503050000020004" pitchFamily="34" charset="0"/>
      <p:regular r:id="rId14"/>
      <p:bold r:id="rId15"/>
      <p:italic r:id="rId16"/>
      <p:boldItalic r:id="rId17"/>
    </p:embeddedFont>
    <p:embeddedFont>
      <p:font typeface="Fira Sans Extra Condensed SemiBold" panose="02020500000000000000" charset="0"/>
      <p:regular r:id="rId18"/>
      <p:bold r:id="rId19"/>
      <p:italic r:id="rId20"/>
      <p:bold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程偉軒" initials="程偉軒" lastIdx="2" clrIdx="0">
    <p:extLst>
      <p:ext uri="{19B8F6BF-5375-455C-9EA6-DF929625EA0E}">
        <p15:presenceInfo xmlns:p15="http://schemas.microsoft.com/office/powerpoint/2012/main" userId="程偉軒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2F0824"/>
    <a:srgbClr val="F2F2F2"/>
    <a:srgbClr val="3D98DE"/>
    <a:srgbClr val="D9D9D9"/>
    <a:srgbClr val="D8C0CB"/>
    <a:srgbClr val="FBF4CB"/>
    <a:srgbClr val="F7EA97"/>
    <a:srgbClr val="B7DED2"/>
    <a:srgbClr val="6FBD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80" autoAdjust="0"/>
    <p:restoredTop sz="88300" autoAdjust="0"/>
  </p:normalViewPr>
  <p:slideViewPr>
    <p:cSldViewPr snapToGrid="0">
      <p:cViewPr varScale="1">
        <p:scale>
          <a:sx n="107" d="100"/>
          <a:sy n="107" d="100"/>
        </p:scale>
        <p:origin x="609" y="60"/>
      </p:cViewPr>
      <p:guideLst>
        <p:guide orient="horz" pos="1620"/>
        <p:guide pos="2880"/>
      </p:guideLst>
    </p:cSldViewPr>
  </p:slideViewPr>
  <p:notesTextViewPr>
    <p:cViewPr>
      <p:scale>
        <a:sx n="300" d="100"/>
        <a:sy n="3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3245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A903C8D7-525E-43C5-AB6E-8490CBE18B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445DA84-E1D2-4105-9536-2A350565E3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6EBB2-A0A6-4D46-9623-37769B0BB09E}" type="datetimeFigureOut">
              <a:rPr lang="zh-TW" altLang="en-US" smtClean="0"/>
              <a:t>2025/12/29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378F254-BA60-4157-AA8B-719C2F0EE7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DEFA8E-41C3-4326-A810-67E83016941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1F5A0E-03AE-4705-8FEE-72A9FEBA224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7725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18dd36938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18dd36938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5F008D86-DC28-9C37-E6FD-E62054CC9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D68AF2BD-AD8F-4B14-625F-8DD616B3DE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C72B8DD9-1048-E3DE-8076-C24185B237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0291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A3918F6D-1406-56CA-D765-D0C1E6036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E9C2207D-C10C-C4D3-A64E-30D6ADBB5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35B61F78-78C3-B143-1AEE-97ED4F6CDD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4424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B1C47BCC-A873-2F58-B930-146D367BF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F9E3C071-C1A7-C84A-9B76-D85C081F0C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07F35F78-A289-E416-D228-88632BE1A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82386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3830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CF7EA73A-81E0-11D6-1709-76933BB6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4899E081-310A-BB3B-0979-21FB7FDEE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A11DAC39-4271-89C3-EF08-3C0217C443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51850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E35D8EAF-3D98-B460-217A-D62E10C67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9A4DE91C-A806-1947-E879-8EE25C22B1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E4D50807-9EE3-0BC8-E183-800FCA169B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2748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69457AE5-CAB6-8850-62EA-392748BF2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4AC542F0-E75B-0075-2F20-58AE4EACB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60A9E185-6E87-EABD-E97A-1839E84218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573377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2BF50803-4E8C-911E-504A-10EF23C6C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CA060DE4-F20B-FF66-E90B-BC0133631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4D03E5D5-0219-00AB-F90D-5F2B8E1898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00829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2">
          <a:extLst>
            <a:ext uri="{FF2B5EF4-FFF2-40B4-BE49-F238E27FC236}">
              <a16:creationId xmlns:a16="http://schemas.microsoft.com/office/drawing/2014/main" id="{61589EB3-115F-726E-B667-F7E0F8785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3" name="Google Shape;2363;g806ada915c_0_2506:notes">
            <a:extLst>
              <a:ext uri="{FF2B5EF4-FFF2-40B4-BE49-F238E27FC236}">
                <a16:creationId xmlns:a16="http://schemas.microsoft.com/office/drawing/2014/main" id="{9DB904A3-56DD-62C4-F7AB-02FB416134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4" name="Google Shape;2364;g806ada915c_0_2506:notes">
            <a:extLst>
              <a:ext uri="{FF2B5EF4-FFF2-40B4-BE49-F238E27FC236}">
                <a16:creationId xmlns:a16="http://schemas.microsoft.com/office/drawing/2014/main" id="{589FA515-B014-04B7-E6E4-8B635C07EB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4252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1_One column 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38AE943-BFB4-4EB6-9556-2FD6D9B82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164889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650514" y="1623400"/>
            <a:ext cx="3514500" cy="140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650514" y="3142400"/>
            <a:ext cx="3514500" cy="3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57351A6-6C41-464F-B929-1521444889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0076" y="4767263"/>
            <a:ext cx="2057400" cy="274637"/>
          </a:xfrm>
        </p:spPr>
        <p:txBody>
          <a:bodyPr/>
          <a:lstStyle>
            <a:lvl1pPr>
              <a:defRPr>
                <a:latin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87E85E0C-F6DF-4C2C-9974-C2547ED92EE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2D217-643E-4228-AA66-0286F7C52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Google Shape;46;p12">
            <a:extLst>
              <a:ext uri="{FF2B5EF4-FFF2-40B4-BE49-F238E27FC236}">
                <a16:creationId xmlns:a16="http://schemas.microsoft.com/office/drawing/2014/main" id="{7A8ABE70-C036-4475-B20F-9E10755540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2109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0275" y="536650"/>
            <a:ext cx="77235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 SemiBold"/>
              <a:buNone/>
              <a:defRPr sz="2800">
                <a:solidFill>
                  <a:schemeClr val="dk1"/>
                </a:solidFill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0275" y="1152475"/>
            <a:ext cx="7723500" cy="34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1D4E10BF-0131-4079-A0E6-0EAD49468E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54133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3D98DE"/>
                </a:solidFill>
                <a:latin typeface="CMU Sans Serif" panose="02000603000000000000" pitchFamily="2" charset="0"/>
                <a:cs typeface="CMU Sans Serif" panose="02000603000000000000" pitchFamily="2" charset="0"/>
              </a:defRPr>
            </a:lvl1pPr>
          </a:lstStyle>
          <a:p>
            <a:fld id="{87E85E0C-F6DF-4C2C-9974-C2547ED92EE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48" r:id="rId2"/>
    <p:sldLayoutId id="2147483649" r:id="rId3"/>
    <p:sldLayoutId id="2147483651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2" r:id="rId10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hyperlink" Target="mailto:b11602057@ntu.edu.tw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mailto:plyen@ntu.edu.tw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57;p15">
            <a:extLst>
              <a:ext uri="{FF2B5EF4-FFF2-40B4-BE49-F238E27FC236}">
                <a16:creationId xmlns:a16="http://schemas.microsoft.com/office/drawing/2014/main" id="{B7B20C1E-0C15-41E1-83F9-59791232E1F8}"/>
              </a:ext>
            </a:extLst>
          </p:cNvPr>
          <p:cNvSpPr/>
          <p:nvPr/>
        </p:nvSpPr>
        <p:spPr>
          <a:xfrm>
            <a:off x="8599894" y="-33900"/>
            <a:ext cx="540000" cy="5203797"/>
          </a:xfrm>
          <a:custGeom>
            <a:avLst/>
            <a:gdLst/>
            <a:ahLst/>
            <a:cxnLst/>
            <a:rect l="l" t="t" r="r" b="b"/>
            <a:pathLst>
              <a:path w="1513" h="166415" extrusionOk="0">
                <a:moveTo>
                  <a:pt x="751" y="1"/>
                </a:moveTo>
                <a:cubicBezTo>
                  <a:pt x="346" y="1"/>
                  <a:pt x="1" y="334"/>
                  <a:pt x="1" y="751"/>
                </a:cubicBezTo>
                <a:lnTo>
                  <a:pt x="1" y="165664"/>
                </a:lnTo>
                <a:cubicBezTo>
                  <a:pt x="1" y="166081"/>
                  <a:pt x="334" y="166414"/>
                  <a:pt x="751" y="166414"/>
                </a:cubicBezTo>
                <a:cubicBezTo>
                  <a:pt x="1167" y="166414"/>
                  <a:pt x="1513" y="166081"/>
                  <a:pt x="1513" y="165664"/>
                </a:cubicBezTo>
                <a:lnTo>
                  <a:pt x="1513" y="751"/>
                </a:lnTo>
                <a:cubicBezTo>
                  <a:pt x="1513" y="334"/>
                  <a:pt x="1167" y="1"/>
                  <a:pt x="751" y="1"/>
                </a:cubicBezTo>
                <a:close/>
              </a:path>
            </a:pathLst>
          </a:custGeom>
          <a:solidFill>
            <a:srgbClr val="C8E4FA"/>
          </a:solidFill>
          <a:ln>
            <a:solidFill>
              <a:srgbClr val="C8E4FA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460153" y="523781"/>
            <a:ext cx="8223688" cy="140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SzPts val="2800"/>
            </a:pPr>
            <a:r>
              <a:rPr lang="en-US" sz="2700" dirty="0">
                <a:solidFill>
                  <a:srgbClr val="3D98D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FAST-Calib and LiDAR Comparison</a:t>
            </a:r>
            <a:endParaRPr sz="27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785928" y="1929581"/>
            <a:ext cx="7572138" cy="12631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Presenter: </a:t>
            </a:r>
            <a:r>
              <a:rPr lang="en-US" altLang="zh-TW" sz="16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Ting-Yun Chien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Advisor: Ping-Lang Yen Ph.D.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19</a:t>
            </a:r>
            <a:r>
              <a:rPr lang="en-US" altLang="zh-TW" baseline="300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th</a:t>
            </a:r>
            <a:r>
              <a:rPr lang="en-US" altLang="zh-TW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 September, 2025, Summer semester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RMML Meeting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zh-TW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sp>
        <p:nvSpPr>
          <p:cNvPr id="8" name="Google Shape;56;p15">
            <a:extLst>
              <a:ext uri="{FF2B5EF4-FFF2-40B4-BE49-F238E27FC236}">
                <a16:creationId xmlns:a16="http://schemas.microsoft.com/office/drawing/2014/main" id="{46447D95-D937-4153-89AE-5B1D288B4F8D}"/>
              </a:ext>
            </a:extLst>
          </p:cNvPr>
          <p:cNvSpPr txBox="1">
            <a:spLocks/>
          </p:cNvSpPr>
          <p:nvPr/>
        </p:nvSpPr>
        <p:spPr>
          <a:xfrm>
            <a:off x="249" y="3761273"/>
            <a:ext cx="3673361" cy="1153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/>
            <a:r>
              <a:rPr lang="en-US" altLang="zh-TW" sz="8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     Ting-Yun Chien is with </a:t>
            </a:r>
            <a:r>
              <a:rPr lang="en-US" altLang="zh-TW" sz="800" dirty="0" err="1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Biomechatronics</a:t>
            </a:r>
            <a:r>
              <a:rPr lang="en-US" altLang="zh-TW" sz="8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 Engineering, National Taiwan University, Taipei, Taiwan </a:t>
            </a:r>
            <a:r>
              <a:rPr lang="en-US" altLang="zh-TW" sz="8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  <a:hlinkClick r:id="rId3"/>
              </a:rPr>
              <a:t>b11602057@ntu.edu.tw</a:t>
            </a:r>
            <a:endParaRPr lang="en-US" altLang="zh-TW" sz="800" dirty="0"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0" indent="0"/>
            <a:r>
              <a:rPr lang="en-US" altLang="zh-TW" sz="8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     Ping-Lang Yen is with </a:t>
            </a:r>
            <a:r>
              <a:rPr lang="en-US" altLang="zh-TW" sz="800" dirty="0" err="1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Biomechatronics</a:t>
            </a:r>
            <a:r>
              <a:rPr lang="en-US" altLang="zh-TW" sz="800" dirty="0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 Engineering, National Taiwan University, Taipei, Taiwan </a:t>
            </a:r>
            <a:r>
              <a:rPr lang="en-US" altLang="zh-TW" sz="800" dirty="0" err="1"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  <a:hlinkClick r:id="rId4"/>
              </a:rPr>
              <a:t>plyen@ntu.edu.tw</a:t>
            </a:r>
            <a:endParaRPr lang="en-US" altLang="zh-TW" sz="800" dirty="0"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0" indent="0"/>
            <a:endParaRPr lang="en-US" altLang="zh-TW" sz="8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  <a:p>
            <a:pPr marL="0" indent="0"/>
            <a:endParaRPr lang="en-US" altLang="zh-TW" sz="800" dirty="0">
              <a:latin typeface="CMU Sans Serif Medium" panose="02000603000000000000" pitchFamily="2" charset="0"/>
              <a:ea typeface="CMU Sans Serif Medium" panose="02000603000000000000" pitchFamily="2" charset="0"/>
              <a:cs typeface="CMU Sans Serif Medium" panose="02000603000000000000" pitchFamily="2" charset="0"/>
            </a:endParaRPr>
          </a:p>
        </p:txBody>
      </p:sp>
      <p:pic>
        <p:nvPicPr>
          <p:cNvPr id="2" name="圖片 6">
            <a:extLst>
              <a:ext uri="{FF2B5EF4-FFF2-40B4-BE49-F238E27FC236}">
                <a16:creationId xmlns:a16="http://schemas.microsoft.com/office/drawing/2014/main" id="{56E3D0AD-8AF8-2A21-D048-5623808D2E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6581" y="3604600"/>
            <a:ext cx="659168" cy="101511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E0BF6C-8D87-F267-9D15-2AFF2AD9B0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2820" y="3625227"/>
            <a:ext cx="1547399" cy="994492"/>
          </a:xfrm>
          <a:prstGeom prst="rect">
            <a:avLst/>
          </a:prstGeom>
        </p:spPr>
      </p:pic>
      <p:pic>
        <p:nvPicPr>
          <p:cNvPr id="4" name="圖片 4">
            <a:extLst>
              <a:ext uri="{FF2B5EF4-FFF2-40B4-BE49-F238E27FC236}">
                <a16:creationId xmlns:a16="http://schemas.microsoft.com/office/drawing/2014/main" id="{777D5ABA-0F8D-CFBE-948B-5B076085790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5816" b="98440" l="368" r="32138">
                        <a14:foregroundMark x1="12782" y1="67518" x2="12782" y2="67518"/>
                        <a14:foregroundMark x1="8874" y1="69220" x2="8874" y2="69220"/>
                        <a14:foregroundMark x1="13609" y1="67092" x2="13609" y2="67092"/>
                        <a14:foregroundMark x1="14437" y1="64539" x2="14437" y2="64539"/>
                        <a14:foregroundMark x1="21149" y1="64113" x2="21149" y2="64113"/>
                        <a14:foregroundMark x1="24598" y1="60851" x2="24598" y2="60851"/>
                        <a14:foregroundMark x1="26851" y1="70355" x2="26851" y2="70355"/>
                        <a14:foregroundMark x1="27908" y1="86099" x2="27908" y2="86099"/>
                        <a14:foregroundMark x1="23264" y1="86383" x2="20920" y2="66383"/>
                        <a14:foregroundMark x1="25425" y1="76596" x2="18897" y2="58723"/>
                        <a14:foregroundMark x1="18437" y1="60567" x2="19862" y2="78440"/>
                        <a14:foregroundMark x1="19632" y1="83121" x2="24828" y2="88936"/>
                        <a14:foregroundMark x1="25747" y1="93050" x2="30161" y2="63830"/>
                        <a14:foregroundMark x1="29563" y1="60851" x2="23034" y2="52908"/>
                        <a14:foregroundMark x1="22115" y1="22270" x2="14529" y2="13191"/>
                        <a14:foregroundMark x1="15126" y1="19007" x2="11586" y2="25957"/>
                        <a14:foregroundMark x1="11816" y1="28511" x2="18805" y2="33901"/>
                        <a14:foregroundMark x1="21287" y1="35319" x2="13103" y2="41560"/>
                        <a14:foregroundMark x1="11218" y1="44823" x2="15954" y2="49645"/>
                        <a14:foregroundMark x1="22437" y1="37589" x2="16322" y2="50638"/>
                        <a14:foregroundMark x1="16184" y1="44823" x2="9333" y2="21560"/>
                        <a14:foregroundMark x1="11678" y1="58014" x2="3310" y2="77730"/>
                        <a14:foregroundMark x1="4276" y1="61560" x2="11356" y2="90780"/>
                        <a14:foregroundMark x1="14161" y1="81986" x2="7448" y2="66383"/>
                        <a14:foregroundMark x1="9103" y1="54326" x2="2943" y2="59858"/>
                        <a14:foregroundMark x1="3310" y1="62411" x2="2345" y2="69645"/>
                        <a14:foregroundMark x1="2345" y1="76170" x2="2943" y2="83121"/>
                        <a14:foregroundMark x1="5333" y1="86383" x2="8506" y2="91489"/>
                        <a14:foregroundMark x1="11356" y1="90780" x2="14161" y2="78440"/>
                        <a14:foregroundMark x1="14529" y1="75177" x2="13333" y2="59007"/>
                        <a14:foregroundMark x1="15494" y1="14894" x2="10621" y2="21560"/>
                        <a14:foregroundMark x1="10299" y1="26950" x2="10989" y2="39716"/>
                        <a14:foregroundMark x1="11586" y1="42695" x2="15816" y2="51064"/>
                        <a14:foregroundMark x1="23816" y1="55603" x2="20138" y2="62128"/>
                        <a14:foregroundMark x1="20736" y1="60851" x2="29747" y2="78440"/>
                        <a14:foregroundMark x1="18069" y1="21135" x2="21563" y2="33050"/>
                        <a14:foregroundMark x1="21057" y1="44823" x2="17563" y2="49220"/>
                        <a14:foregroundMark x1="18621" y1="46667" x2="20644" y2="52199"/>
                        <a14:foregroundMark x1="21057" y1="53617" x2="20920" y2="59858"/>
                        <a14:foregroundMark x1="7724" y1="49645" x2="4966" y2="53901"/>
                        <a14:backgroundMark x1="10023" y1="9787" x2="10023" y2="9787"/>
                        <a14:backgroundMark x1="4506" y1="34610" x2="4506" y2="34610"/>
                        <a14:backgroundMark x1="28736" y1="31064" x2="28736" y2="31064"/>
                        <a14:backgroundMark x1="17149" y1="90780" x2="17149" y2="90780"/>
                        <a14:backgroundMark x1="4368" y1="94043" x2="4368" y2="9404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67422"/>
          <a:stretch/>
        </p:blipFill>
        <p:spPr>
          <a:xfrm>
            <a:off x="4930390" y="3604040"/>
            <a:ext cx="1023973" cy="10188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DCFABA11-CB97-10DC-B2DF-A484D8404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2E77E19-A792-3069-0609-C765D0E87EC8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362C90ED-FBDC-723F-A092-E608043D5888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9E94D909-001F-975F-6855-8C0CA8738073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BE275D26-CF11-3353-DE00-9F29DAAAD5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6AC121C9-0053-7485-E4AB-0C8A7A7C4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CC2EC67C-AF46-13B2-112D-4044CFA101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ECBB46C-4FD2-5E27-5975-777A8E6196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2</a:t>
            </a:fld>
            <a:endParaRPr lang="zh-TW" altLang="en-US" dirty="0"/>
          </a:p>
        </p:txBody>
      </p:sp>
      <p:sp>
        <p:nvSpPr>
          <p:cNvPr id="11" name="Google Shape;2366;p43">
            <a:extLst>
              <a:ext uri="{FF2B5EF4-FFF2-40B4-BE49-F238E27FC236}">
                <a16:creationId xmlns:a16="http://schemas.microsoft.com/office/drawing/2014/main" id="{262FEBC9-31CC-02EC-3F04-52CE392E2D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altLang="zh-TW" sz="2400" dirty="0">
                <a:solidFill>
                  <a:srgbClr val="3D98D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sz="2400" baseline="300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字版面配置區 2">
            <a:extLst>
              <a:ext uri="{FF2B5EF4-FFF2-40B4-BE49-F238E27FC236}">
                <a16:creationId xmlns:a16="http://schemas.microsoft.com/office/drawing/2014/main" id="{3F2030E5-1E74-9850-C247-D7FBC48DBF10}"/>
              </a:ext>
            </a:extLst>
          </p:cNvPr>
          <p:cNvSpPr txBox="1">
            <a:spLocks/>
          </p:cNvSpPr>
          <p:nvPr/>
        </p:nvSpPr>
        <p:spPr>
          <a:xfrm>
            <a:off x="236422" y="766600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-342900">
              <a:buClr>
                <a:srgbClr val="3D98DE"/>
              </a:buClr>
              <a:buFont typeface="Wingdings" panose="05000000000000000000" pitchFamily="2" charset="2"/>
              <a:buChar char="l"/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Intrinsic Calibration</a:t>
            </a:r>
          </a:p>
          <a:p>
            <a:pPr indent="-342900">
              <a:buClr>
                <a:srgbClr val="3D98DE"/>
              </a:buClr>
              <a:buFont typeface="Wingdings" panose="05000000000000000000" pitchFamily="2" charset="2"/>
              <a:buChar char="l"/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FAST-Calib</a:t>
            </a:r>
          </a:p>
          <a:p>
            <a:pPr indent="-342900">
              <a:buClr>
                <a:srgbClr val="3D98DE"/>
              </a:buClr>
              <a:buFont typeface="Wingdings" panose="05000000000000000000" pitchFamily="2" charset="2"/>
              <a:buChar char="l"/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LiDAR Comparison</a:t>
            </a:r>
          </a:p>
          <a:p>
            <a:pPr indent="-342900">
              <a:buClr>
                <a:srgbClr val="3D98DE"/>
              </a:buClr>
              <a:buFont typeface="Wingdings" panose="05000000000000000000" pitchFamily="2" charset="2"/>
              <a:buChar char="l"/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 steps</a:t>
            </a:r>
          </a:p>
          <a:p>
            <a:pPr indent="-342900">
              <a:buClr>
                <a:srgbClr val="3D98DE"/>
              </a:buClr>
              <a:buFont typeface="Wingdings" panose="05000000000000000000" pitchFamily="2" charset="2"/>
              <a:buChar char="l"/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571500" lvl="1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306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2FD154DA-4E9E-D5A6-B01B-8A37BD866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B3791CF-CDA5-F797-625F-948919194495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B74DFA5D-C256-C540-05D2-6FEF1E576141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34D89570-0376-7C01-BF26-AB33C9286708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9F0C2EE8-9567-8304-FEDA-89115EE85B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A972CD41-3E12-A5BB-DCFA-56C7D5CC3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8697E5A1-5996-77F8-1429-F8464D7643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E504583-A7DC-0594-D76C-F2F1F41BBD20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b="1" dirty="0"/>
              <a:t>目標</a:t>
            </a:r>
            <a:endParaRPr lang="en-US" altLang="zh-TW" sz="1400" b="1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透過 </a:t>
            </a:r>
            <a:r>
              <a:rPr lang="en-US" altLang="zh-TW" sz="1400" dirty="0"/>
              <a:t>STM32 </a:t>
            </a:r>
            <a:r>
              <a:rPr lang="zh-TW" altLang="en-US" sz="1400" dirty="0"/>
              <a:t>微控制器對無刷馬達進行閉迴路速度控制</a:t>
            </a:r>
            <a:endParaRPr lang="en-US" altLang="zh-TW" sz="1400" dirty="0"/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b="1" dirty="0"/>
              <a:t>硬體</a:t>
            </a:r>
            <a:endParaRPr lang="en-US" altLang="zh-TW" sz="1400" b="1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使用 </a:t>
            </a:r>
            <a:r>
              <a:rPr lang="en-US" altLang="zh-TW" sz="1400" dirty="0"/>
              <a:t>Motion Tech DEV(104) </a:t>
            </a:r>
            <a:r>
              <a:rPr lang="zh-TW" altLang="en-US" sz="1400" dirty="0"/>
              <a:t>驅動器，搭配三相 </a:t>
            </a:r>
            <a:r>
              <a:rPr lang="en-US" altLang="zh-TW" sz="1400" dirty="0"/>
              <a:t>BLDC </a:t>
            </a:r>
            <a:r>
              <a:rPr lang="zh-TW" altLang="en-US" sz="1400" dirty="0"/>
              <a:t>馬達</a:t>
            </a:r>
            <a:endParaRPr lang="en-US" altLang="zh-TW" sz="1400" dirty="0"/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b="1" dirty="0"/>
              <a:t>硬體</a:t>
            </a:r>
            <a:endParaRPr lang="en-US" altLang="zh-TW" sz="1400" b="1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使用 </a:t>
            </a:r>
            <a:r>
              <a:rPr lang="en-US" altLang="zh-TW" sz="1400" dirty="0"/>
              <a:t>Motion Tech DEV(104) </a:t>
            </a:r>
            <a:r>
              <a:rPr lang="zh-TW" altLang="en-US" sz="1400" dirty="0"/>
              <a:t>驅動器，搭配三相 </a:t>
            </a:r>
            <a:r>
              <a:rPr lang="en-US" altLang="zh-TW" sz="1400" dirty="0"/>
              <a:t>BLDC </a:t>
            </a:r>
            <a:r>
              <a:rPr lang="zh-TW" altLang="en-US" sz="1400" dirty="0"/>
              <a:t>馬達</a:t>
            </a:r>
            <a:endParaRPr lang="en-US" altLang="zh-TW" sz="1400" dirty="0"/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b="1" dirty="0"/>
              <a:t>安全機制</a:t>
            </a:r>
            <a:endParaRPr lang="en-US" altLang="zh-TW" sz="1400" b="1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系統包含回生電阻以處理反電動勢，並接線 </a:t>
            </a:r>
            <a:r>
              <a:rPr lang="en-US" altLang="zh-TW" sz="1400" dirty="0"/>
              <a:t>STO</a:t>
            </a:r>
            <a:r>
              <a:rPr lang="zh-TW" altLang="en-US" sz="1400" dirty="0"/>
              <a:t>（</a:t>
            </a:r>
            <a:r>
              <a:rPr lang="en-US" altLang="zh-TW" sz="1400" dirty="0"/>
              <a:t>Safe Torque Off</a:t>
            </a:r>
            <a:r>
              <a:rPr lang="zh-TW" altLang="en-US" sz="1400" dirty="0"/>
              <a:t>）硬體安全迴路。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1E5F4270-6134-C4F4-C74D-6ED012672D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1C901FCC-87D5-E4E1-B92E-F42620D676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核心摘要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8CEF060-0B1E-1134-26DE-5A5E538EBFB4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85634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181123EE-2C58-3FAE-0052-A0CE81A10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513401E-A8C8-6088-8C42-5CD67411FA0F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97B7875C-1AE8-D08A-43C9-2D526DF53D4E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137506E4-BC56-4215-221A-1D5C2839AC0E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CE7635BA-52BE-CED4-0B57-E9067F5562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3D484AAB-CEF0-DF32-20DC-CB40C47C1E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B7B5A8EB-96C5-5961-EDF3-3FF29C9724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8C26458-823E-BAF1-ACD2-A7C7AE62F21C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為什麼選擇 </a:t>
            </a:r>
            <a:r>
              <a:rPr lang="en-US" altLang="zh-TW" sz="1400" dirty="0"/>
              <a:t>BLDC</a:t>
            </a:r>
            <a:r>
              <a:rPr lang="zh-TW" altLang="en-US" sz="1400" dirty="0"/>
              <a:t>？</a:t>
            </a:r>
            <a:endParaRPr lang="en-US" altLang="zh-TW" sz="1400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相較於有刷馬達，無刷馬達（</a:t>
            </a:r>
            <a:r>
              <a:rPr lang="en-US" altLang="zh-TW" sz="1400" dirty="0"/>
              <a:t>BLDC</a:t>
            </a:r>
            <a:r>
              <a:rPr lang="zh-TW" altLang="en-US" sz="1400" dirty="0"/>
              <a:t>）去除碳刷結構，改用電子換相。這帶來了更高的功率密度、更好的散熱效率以及免維護的特性，非常適合需要長時間運行與高動態響應的移動機器人底盤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驅動器控制模式選擇</a:t>
            </a:r>
            <a:endParaRPr lang="en-US" altLang="zh-TW" sz="1400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本實驗使用 </a:t>
            </a:r>
            <a:r>
              <a:rPr lang="en-US" altLang="zh-TW" sz="1400" dirty="0"/>
              <a:t>DEV(104) </a:t>
            </a:r>
            <a:r>
              <a:rPr lang="zh-TW" altLang="en-US" sz="1400" dirty="0"/>
              <a:t>驅動器，根據手冊 ，我們將利用兩種控制模式：</a:t>
            </a:r>
            <a:endParaRPr lang="en-US" altLang="zh-TW" sz="1400" dirty="0"/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/>
              <a:t>Duty </a:t>
            </a:r>
            <a:r>
              <a:rPr lang="zh-TW" altLang="en-US" sz="1400" dirty="0"/>
              <a:t>模式 </a:t>
            </a:r>
            <a:r>
              <a:rPr lang="en-US" altLang="zh-TW" sz="1400" dirty="0"/>
              <a:t>(Mode 1)</a:t>
            </a:r>
            <a:r>
              <a:rPr lang="zh-TW" altLang="en-US" sz="1400" dirty="0"/>
              <a:t>：驅動器僅作為功率放大器，輸出的電壓佔空比（</a:t>
            </a:r>
            <a:r>
              <a:rPr lang="en-US" altLang="zh-TW" sz="1400" dirty="0"/>
              <a:t>Duty Cycle</a:t>
            </a:r>
            <a:r>
              <a:rPr lang="zh-TW" altLang="en-US" sz="1400" dirty="0"/>
              <a:t>）直接由輸入指令控制。此模式用於系統鑑別實驗，以獲取馬達原始響應 </a:t>
            </a:r>
            <a:endParaRPr lang="en-US" altLang="zh-TW" sz="1400" dirty="0"/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速度模式 </a:t>
            </a:r>
            <a:r>
              <a:rPr lang="en-US" altLang="zh-TW" sz="1400" dirty="0"/>
              <a:t>(Mode 0)</a:t>
            </a:r>
            <a:r>
              <a:rPr lang="zh-TW" altLang="en-US" sz="1400" dirty="0"/>
              <a:t>：驅動器內部雖有 </a:t>
            </a:r>
            <a:r>
              <a:rPr lang="en-US" altLang="zh-TW" sz="1400" dirty="0"/>
              <a:t>PID</a:t>
            </a:r>
            <a:r>
              <a:rPr lang="zh-TW" altLang="en-US" sz="1400" dirty="0"/>
              <a:t>，但為了研究控制演算法，我們將在 </a:t>
            </a:r>
            <a:r>
              <a:rPr lang="en-US" altLang="zh-TW" sz="1400" dirty="0"/>
              <a:t>STM32 </a:t>
            </a:r>
            <a:r>
              <a:rPr lang="zh-TW" altLang="en-US" sz="1400" dirty="0"/>
              <a:t>端實作控制迴路，透過 </a:t>
            </a:r>
            <a:r>
              <a:rPr lang="en-US" altLang="zh-TW" sz="1400" dirty="0"/>
              <a:t>Duty </a:t>
            </a:r>
            <a:r>
              <a:rPr lang="zh-TW" altLang="en-US" sz="1400" dirty="0"/>
              <a:t>模式發送指令</a:t>
            </a:r>
            <a:endParaRPr lang="en-US" altLang="zh-TW" sz="1400" dirty="0"/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EB6DEB9-3355-1C00-72B9-FCB3A09406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F52885CC-6F3C-30BF-8D7F-920FE7B8C9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無刷馬達與驅動原理 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6ED60094-4945-A7B1-6B92-D2DFEA7C5D6F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23299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8407ABE-FB8D-CE78-6A28-910A1D5DA8F8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EC685194-F9B7-60D1-4185-A4FE1372DA7D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34AC41B5-083C-A158-2D6C-3AA14C8298F8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244F95E5-A8CF-514D-3286-71AC412BF4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D9003049-7FCE-C4CF-59D9-D74508C7A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88431988-1159-8B6B-4E5D-02E668D919F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9E6589F-1E9D-F439-D4EC-58C7A8953222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訊號控制介面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(STM32 &lt;-&gt; DEV Driver)</a:t>
            </a: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指令輸入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使用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STM32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的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PWM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訊號連接至驅動器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CN7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接口的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XH0+ (Pin 17)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與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XH0- (Pin 19) </a:t>
            </a: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抗干擾設計：採用差動輸入（或模擬差動接法），增強工廠環境下的抗雜訊能力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方向控制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STM32 GPIO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連接至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XH1+ (Pin 21)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與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XH1- (Pin 23)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控制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CW/CCW </a:t>
            </a: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速度回授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讀取驅動器的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SPD-OUT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訊號（需配置數位輸出功能），將馬達轉速回傳至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STM32</a:t>
            </a: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r>
              <a:rPr lang="en-US" altLang="zh-TW" sz="10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Zheng, C., &amp; Zhang, F. (2025). FAST-Calib: LiDAR-Camera Extrinsic Calibration in One Second. </a:t>
            </a:r>
            <a:r>
              <a:rPr lang="en-US" altLang="zh-TW" sz="1000" dirty="0" err="1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arXiv:2507.17210</a:t>
            </a:r>
            <a:r>
              <a:rPr lang="en-US" altLang="zh-TW" sz="10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. https://</a:t>
            </a:r>
            <a:r>
              <a:rPr lang="en-US" altLang="zh-TW" sz="1000" dirty="0" err="1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arxiv.org</a:t>
            </a:r>
            <a:r>
              <a:rPr lang="en-US" altLang="zh-TW" sz="10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/abs/2507.17210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133263A-151B-4B97-AD39-572BCE7DAF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5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CA36A47D-4295-47BC-97C0-B0C708162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硬體架構與接線規劃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D3F0BE8F-C57E-29AB-2139-B038E1FB80DB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13516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64BEE976-3932-88F6-4081-285CEE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8DB519D-FC6D-1363-894D-7AFBEC4E14CD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12BCDA0D-CCCB-B6D5-FFBA-E74E7A85B2DB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B25FF954-93A5-1C14-34B4-010970DF3D35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59228A86-5D45-76E6-5323-653950805E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EACEFBA1-9752-BB78-63F0-CCCBB4153A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020AB3CC-7156-1129-AE2A-AE00D78C8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A74C15-1446-ABAE-E46B-E2E1BA1B1063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安全與能量管理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(Safety </a:t>
            </a:r>
            <a:r>
              <a:rPr lang="en-US" altLang="zh-TW" sz="1400" dirty="0" err="1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Criticals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)</a:t>
            </a: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回生電阻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(Regenerative Resistor)</a:t>
            </a: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連接於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CN4 (R+/R-)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。當馬達急減速時，將反電動勢產生的回生能量轉換為熱能，防止驅動器過壓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(OVP) </a:t>
            </a: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STO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安全扭矩關閉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STO1 (Pin 25)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與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STO2 (Pin 26)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必須接入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5~30V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電源。這是硬體級別的斷電保護，確保緊急狀況下能物理切斷動力 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接地系統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電源系統採用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PELV (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保護特低電壓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)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接地方式，將電源負極接地，以導引電磁干擾與靜電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r>
              <a:rPr lang="en-US" altLang="zh-TW" sz="10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Zheng, C., &amp; Zhang, F. (2025). FAST-Calib: LiDAR-Camera Extrinsic Calibration in One Second. </a:t>
            </a:r>
            <a:r>
              <a:rPr lang="en-US" altLang="zh-TW" sz="1000" dirty="0" err="1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arXiv:2507.17210</a:t>
            </a:r>
            <a:r>
              <a:rPr lang="en-US" altLang="zh-TW" sz="10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. https://</a:t>
            </a:r>
            <a:r>
              <a:rPr lang="en-US" altLang="zh-TW" sz="1000" dirty="0" err="1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arxiv.org</a:t>
            </a:r>
            <a:r>
              <a:rPr lang="en-US" altLang="zh-TW" sz="10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/abs/2507.17210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49CFE4-F2B2-10A3-1792-4760533204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37C248DD-D638-25BE-E475-D783D90B38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硬體架構與接線規劃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1FA3D56-BB5F-EC13-3098-0AA13576B7E5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179579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9D6658E3-B357-A4F5-091C-89F526DB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108447C-354D-1CFF-F9EA-A6D07DDF880C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7B7C00A8-F33C-3077-D1DC-38798F6DC8F4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5325F6A8-7961-8E5B-5EC3-54B300208474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2D15C292-2A04-C624-069B-795B2E9AEB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1C6C744A-6DBF-8146-6F9D-4D55B27B7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765671B5-8B64-6AD8-6245-DB3A172ECD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8C3E2C-67C0-1944-CB55-C50E557CD445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採用標準的控制工程方法論：</a:t>
            </a:r>
            <a:r>
              <a:rPr lang="zh-TW" altLang="en-US" sz="1400" b="1" dirty="0"/>
              <a:t>「先建模，後控制」</a:t>
            </a:r>
            <a:endParaRPr lang="en-US" altLang="zh-TW" sz="1400" b="1" dirty="0"/>
          </a:p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階段一：系統鑑別 </a:t>
            </a:r>
            <a:r>
              <a:rPr lang="en-US" altLang="zh-TW" sz="1400" dirty="0"/>
              <a:t>(System Identification)</a:t>
            </a:r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目的：將「驅動器 </a:t>
            </a:r>
            <a:r>
              <a:rPr lang="en-US" altLang="zh-TW" sz="1400" dirty="0"/>
              <a:t>+ </a:t>
            </a:r>
            <a:r>
              <a:rPr lang="zh-TW" altLang="en-US" sz="1400" dirty="0"/>
              <a:t>馬達」視為一個黑盒子，求出其轉移函數（</a:t>
            </a:r>
            <a:r>
              <a:rPr lang="en-US" altLang="zh-TW" sz="1400" dirty="0"/>
              <a:t>Transfer Function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步驟：</a:t>
            </a:r>
            <a:endParaRPr lang="en-US" altLang="zh-TW" sz="1400" dirty="0"/>
          </a:p>
          <a:p>
            <a:pPr lvl="2" indent="-34290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Font typeface="+mj-lt"/>
              <a:buAutoNum type="arabicPeriod"/>
            </a:pPr>
            <a:r>
              <a:rPr lang="zh-TW" altLang="en-US" sz="1400" dirty="0"/>
              <a:t>將 </a:t>
            </a:r>
            <a:r>
              <a:rPr lang="en-US" altLang="zh-TW" sz="1400" dirty="0"/>
              <a:t>DEV </a:t>
            </a:r>
            <a:r>
              <a:rPr lang="zh-TW" altLang="en-US" sz="1400" dirty="0"/>
              <a:t>驅動器參數 </a:t>
            </a:r>
            <a:r>
              <a:rPr lang="en-US" altLang="zh-TW" sz="1400" dirty="0"/>
              <a:t>01-11 </a:t>
            </a:r>
            <a:r>
              <a:rPr lang="zh-TW" altLang="en-US" sz="1400" dirty="0"/>
              <a:t>設為 </a:t>
            </a:r>
            <a:r>
              <a:rPr lang="en-US" altLang="zh-TW" sz="1400" dirty="0"/>
              <a:t>1 (Duty Mode) </a:t>
            </a:r>
          </a:p>
          <a:p>
            <a:pPr lvl="2" indent="-34290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Font typeface="+mj-lt"/>
              <a:buAutoNum type="arabicPeriod"/>
            </a:pPr>
            <a:r>
              <a:rPr lang="en-US" altLang="zh-TW" sz="1400" dirty="0"/>
              <a:t>STM32 </a:t>
            </a:r>
            <a:r>
              <a:rPr lang="zh-TW" altLang="en-US" sz="1400" dirty="0"/>
              <a:t>發送一個步階指令（</a:t>
            </a:r>
            <a:r>
              <a:rPr lang="en-US" altLang="zh-TW" sz="1400" dirty="0"/>
              <a:t>Step Input</a:t>
            </a:r>
            <a:r>
              <a:rPr lang="zh-TW" altLang="en-US" sz="1400" dirty="0"/>
              <a:t>），例如瞬間給定 </a:t>
            </a:r>
            <a:r>
              <a:rPr lang="en-US" altLang="zh-TW" sz="1400" dirty="0"/>
              <a:t>30% Duty Cycle</a:t>
            </a:r>
          </a:p>
          <a:p>
            <a:pPr lvl="2" indent="-34290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Font typeface="+mj-lt"/>
              <a:buAutoNum type="arabicPeriod"/>
            </a:pPr>
            <a:r>
              <a:rPr lang="zh-TW" altLang="en-US" sz="1400" dirty="0"/>
              <a:t>紀錄馬達轉速從 </a:t>
            </a:r>
            <a:r>
              <a:rPr lang="en-US" altLang="zh-TW" sz="1400" dirty="0"/>
              <a:t>0 </a:t>
            </a:r>
            <a:r>
              <a:rPr lang="zh-TW" altLang="en-US" sz="1400" dirty="0"/>
              <a:t>上升至穩態的響應曲線。</a:t>
            </a:r>
            <a:endParaRPr lang="en-US" altLang="zh-TW" sz="1400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b="1" dirty="0"/>
              <a:t>數學模型</a:t>
            </a:r>
            <a:r>
              <a:rPr lang="zh-TW" altLang="en-US" sz="1400" dirty="0"/>
              <a:t>： 預期無刷馬達速度響應近似一階系統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028700" lvl="2" indent="0" algn="ctr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G(s)=K/</a:t>
            </a:r>
            <a:r>
              <a:rPr lang="el-GR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 τ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s+1</a:t>
            </a: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K (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增益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)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：穩態轉速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/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輸入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Duty %</a:t>
            </a: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l-GR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τ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(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時間常數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)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：轉速達到穩態值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63.2%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所需時間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38E2D58-0616-E730-D4AB-44BBB374B2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6DE067B8-CEAF-9CB7-F9D7-E2730B8D57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控制系統設計流程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8B6EFC8-264A-9795-68BF-51B742D752BB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8597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6C7105FA-B2F5-7A23-4CEE-65BABE158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ECB8B0-C7C0-293A-0CD7-AEF2485B5252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E23F97BA-9A86-DC57-AAD2-025EE061288A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073A7BAD-0881-2CBC-E7B4-36076F737876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4589E7D9-12D7-F2A9-FC1F-E0B424E3C0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BC1345C4-1E95-CEEF-06A8-F8C963D1A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B411DD53-67B1-1AD7-41E8-E9EA504324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1823F17-D587-3C26-CA8C-A2769A7F5917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804739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400050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階段二：</a:t>
            </a:r>
            <a:r>
              <a:rPr lang="en-US" altLang="zh-TW" sz="1400" dirty="0"/>
              <a:t>PID </a:t>
            </a:r>
            <a:r>
              <a:rPr lang="zh-TW" altLang="en-US" sz="1400" dirty="0"/>
              <a:t>控制器設計</a:t>
            </a:r>
            <a:endParaRPr lang="en-US" altLang="zh-TW" sz="1400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/>
              <a:t>演算法：使用 </a:t>
            </a:r>
            <a:r>
              <a:rPr lang="en-US" altLang="zh-TW" sz="1400" dirty="0"/>
              <a:t>PI </a:t>
            </a:r>
            <a:r>
              <a:rPr lang="zh-TW" altLang="en-US" sz="1400" dirty="0"/>
              <a:t>控制（比例</a:t>
            </a:r>
            <a:r>
              <a:rPr lang="en-US" altLang="zh-TW" sz="1400" dirty="0"/>
              <a:t>-</a:t>
            </a:r>
            <a:r>
              <a:rPr lang="zh-TW" altLang="en-US" sz="1400" dirty="0"/>
              <a:t>積分），在 </a:t>
            </a:r>
            <a:r>
              <a:rPr lang="en-US" altLang="zh-TW" sz="1400" dirty="0"/>
              <a:t>STM32 </a:t>
            </a:r>
            <a:r>
              <a:rPr lang="zh-TW" altLang="en-US" sz="1400" dirty="0"/>
              <a:t>上實作</a:t>
            </a:r>
            <a:endParaRPr lang="en-US" altLang="zh-TW" sz="1400" dirty="0"/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/>
              <a:t>P (</a:t>
            </a:r>
            <a:r>
              <a:rPr lang="zh-TW" altLang="en-US" sz="1400" dirty="0"/>
              <a:t>比例</a:t>
            </a:r>
            <a:r>
              <a:rPr lang="en-US" altLang="zh-TW" sz="1400" dirty="0"/>
              <a:t>)</a:t>
            </a:r>
            <a:r>
              <a:rPr lang="zh-TW" altLang="en-US" sz="1400" dirty="0"/>
              <a:t>：提升響應速度</a:t>
            </a:r>
            <a:endParaRPr lang="en-US" altLang="zh-TW" sz="1400" dirty="0"/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en-US" altLang="zh-TW" sz="1400" dirty="0"/>
              <a:t>I (</a:t>
            </a:r>
            <a:r>
              <a:rPr lang="zh-TW" altLang="en-US" sz="1400" dirty="0"/>
              <a:t>積分</a:t>
            </a:r>
            <a:r>
              <a:rPr lang="en-US" altLang="zh-TW" sz="1400" dirty="0"/>
              <a:t>)</a:t>
            </a:r>
            <a:r>
              <a:rPr lang="zh-TW" altLang="en-US" sz="1400" dirty="0"/>
              <a:t>：消除穩態誤差（確保目標速度與實際速度一致）</a:t>
            </a:r>
            <a:endParaRPr lang="en-US" altLang="zh-TW" sz="1400" dirty="0"/>
          </a:p>
          <a:p>
            <a:pPr marL="857250" lvl="1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參數計算</a:t>
            </a:r>
            <a:endParaRPr lang="en-US" altLang="zh-TW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314450" lvl="2" indent="-28575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</a:pP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根據階段一測得的 </a:t>
            </a:r>
            <a:r>
              <a:rPr lang="en-US" altLang="zh-TW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</a:t>
            </a: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與 </a:t>
            </a:r>
            <a:r>
              <a:rPr lang="el-GR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τ </a:t>
            </a: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，利用極點配置法計算 </a:t>
            </a:r>
            <a:r>
              <a:rPr lang="en-US" altLang="zh-TW" sz="1400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</a:t>
            </a:r>
            <a:r>
              <a:rPr lang="en-US" altLang="zh-TW" dirty="0" err="1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</a:t>
            </a: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與 </a:t>
            </a:r>
            <a:r>
              <a:rPr lang="en-US" altLang="zh-TW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K</a:t>
            </a:r>
            <a:r>
              <a:rPr lang="en-US" altLang="zh-TW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</a:t>
            </a: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，而非盲目試誤（</a:t>
            </a:r>
            <a:r>
              <a:rPr lang="en-US" altLang="zh-TW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Trial and error</a:t>
            </a:r>
            <a:r>
              <a:rPr lang="zh-TW" altLang="en-US" sz="1400" dirty="0">
                <a:solidFill>
                  <a:schemeClr val="tx1"/>
                </a:solidFill>
                <a:latin typeface="Roboto" panose="02000000000000000000" pitchFamily="2" charset="0"/>
                <a:ea typeface="CMU Sans Serif Medium" panose="02000603000000000000" pitchFamily="2" charset="0"/>
                <a:cs typeface="Roboto" panose="02000000000000000000" pitchFamily="2" charset="0"/>
              </a:rPr>
              <a:t>）。</a:t>
            </a:r>
            <a:endParaRPr lang="en-US" altLang="zh-TW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15A7B89-AE55-73CE-6FFD-46A4F56E6E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8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A57D163E-8EB1-7EB4-8CCF-6C997287A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控制系統設計流程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63F7BB77-4DDE-9B6F-D48D-3CE34E5CC714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307383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76648E3B-6D41-6E08-9598-6390EA807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D3250CF-7AA3-4C8F-F65A-AE3603900D6D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EB9E05A3-5D80-7ABB-4CBD-0BC5E9C55028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163F3572-75E9-9123-A6CD-4FA5F3611BAA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37DC8D28-66DB-9945-78BE-31B5D1933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F1250723-8359-2B9A-E261-3AA38EDFA4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A8670A5C-713E-A65E-BB52-560E94D503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5C1A82-50E1-C30C-15D8-E2EE6D3120AA}"/>
              </a:ext>
            </a:extLst>
          </p:cNvPr>
          <p:cNvSpPr txBox="1">
            <a:spLocks/>
          </p:cNvSpPr>
          <p:nvPr/>
        </p:nvSpPr>
        <p:spPr>
          <a:xfrm>
            <a:off x="254651" y="711373"/>
            <a:ext cx="7395829" cy="397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●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"/>
              <a:buChar char="○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"/>
              <a:buChar char="■"/>
              <a:defRPr sz="12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-34290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Font typeface="+mj-lt"/>
              <a:buAutoNum type="arabicPeriod"/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完成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STM32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與 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DEV 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驅動器的通訊與訊號對接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indent="-34290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Font typeface="+mj-lt"/>
              <a:buAutoNum type="arabicPeriod"/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繪製出馬達的開迴路步階響應圖（</a:t>
            </a:r>
            <a:r>
              <a:rPr lang="en-US" altLang="zh-TW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Step Response</a:t>
            </a: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）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indent="-34290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Font typeface="+mj-lt"/>
              <a:buAutoNum type="arabicPeriod"/>
            </a:pPr>
            <a:r>
              <a:rPr lang="zh-TW" altLang="en-US" sz="1400" dirty="0">
                <a:solidFill>
                  <a:schemeClr val="tx1"/>
                </a:solidFill>
                <a:latin typeface="Times New Roman" panose="02020603050405020304" pitchFamily="18" charset="0"/>
                <a:ea typeface="CMU Sans Serif Medium" panose="02000603000000000000" pitchFamily="2" charset="0"/>
                <a:cs typeface="Times New Roman" panose="02020603050405020304" pitchFamily="18" charset="0"/>
              </a:rPr>
              <a:t>實現閉迴路速度控制，驗證在負載變化下轉速的穩定性</a:t>
            </a: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  <a:p>
            <a:pPr marL="114300" indent="0">
              <a:lnSpc>
                <a:spcPct val="100000"/>
              </a:lnSpc>
              <a:spcBef>
                <a:spcPts val="800"/>
              </a:spcBef>
              <a:buClr>
                <a:srgbClr val="3D98DE"/>
              </a:buClr>
              <a:buNone/>
            </a:pPr>
            <a:endParaRPr lang="en-US" altLang="zh-TW" sz="1000" dirty="0">
              <a:solidFill>
                <a:schemeClr val="tx1"/>
              </a:solidFill>
              <a:latin typeface="Times New Roman" panose="02020603050405020304" pitchFamily="18" charset="0"/>
              <a:ea typeface="CMU Sans Serif Medium" panose="02000603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477283A-C5CB-702D-63F1-052AC6B55D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16" name="Google Shape;2366;p43">
            <a:extLst>
              <a:ext uri="{FF2B5EF4-FFF2-40B4-BE49-F238E27FC236}">
                <a16:creationId xmlns:a16="http://schemas.microsoft.com/office/drawing/2014/main" id="{91A6EF89-16B5-C6DD-72E1-B06C67A439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5220" y="212801"/>
            <a:ext cx="8793560" cy="4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14300"/>
            <a:r>
              <a:rPr lang="zh-TW" altLang="en-US" sz="2400" dirty="0"/>
              <a:t>預期成果與下一步</a:t>
            </a:r>
            <a:endParaRPr lang="en-US" altLang="zh-TW" sz="2400" dirty="0">
              <a:solidFill>
                <a:srgbClr val="3D98D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05BE5A2-E958-40EB-2A1B-E5CF3B4569CD}"/>
              </a:ext>
            </a:extLst>
          </p:cNvPr>
          <p:cNvSpPr/>
          <p:nvPr/>
        </p:nvSpPr>
        <p:spPr>
          <a:xfrm>
            <a:off x="258419" y="693374"/>
            <a:ext cx="8232281" cy="18000"/>
          </a:xfrm>
          <a:prstGeom prst="roundRect">
            <a:avLst/>
          </a:prstGeom>
          <a:solidFill>
            <a:schemeClr val="bg2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03420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5">
          <a:extLst>
            <a:ext uri="{FF2B5EF4-FFF2-40B4-BE49-F238E27FC236}">
              <a16:creationId xmlns:a16="http://schemas.microsoft.com/office/drawing/2014/main" id="{1C8E5E33-9BA1-86E3-3FC6-A4831BC59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E74A7F2-44FA-52D2-C96A-F806A654F056}"/>
              </a:ext>
            </a:extLst>
          </p:cNvPr>
          <p:cNvGrpSpPr/>
          <p:nvPr/>
        </p:nvGrpSpPr>
        <p:grpSpPr>
          <a:xfrm>
            <a:off x="8580151" y="-33900"/>
            <a:ext cx="588134" cy="5203797"/>
            <a:chOff x="8580151" y="-33900"/>
            <a:chExt cx="588134" cy="5203797"/>
          </a:xfrm>
        </p:grpSpPr>
        <p:grpSp>
          <p:nvGrpSpPr>
            <p:cNvPr id="5" name="群組 11">
              <a:extLst>
                <a:ext uri="{FF2B5EF4-FFF2-40B4-BE49-F238E27FC236}">
                  <a16:creationId xmlns:a16="http://schemas.microsoft.com/office/drawing/2014/main" id="{6CEDE018-F145-8BA0-11DE-E473D43D121F}"/>
                </a:ext>
              </a:extLst>
            </p:cNvPr>
            <p:cNvGrpSpPr/>
            <p:nvPr/>
          </p:nvGrpSpPr>
          <p:grpSpPr>
            <a:xfrm>
              <a:off x="8596126" y="-33900"/>
              <a:ext cx="543768" cy="5203797"/>
              <a:chOff x="8596126" y="-33900"/>
              <a:chExt cx="543768" cy="5203797"/>
            </a:xfrm>
          </p:grpSpPr>
          <p:sp>
            <p:nvSpPr>
              <p:cNvPr id="8" name="Google Shape;57;p15">
                <a:extLst>
                  <a:ext uri="{FF2B5EF4-FFF2-40B4-BE49-F238E27FC236}">
                    <a16:creationId xmlns:a16="http://schemas.microsoft.com/office/drawing/2014/main" id="{4525835B-E741-7390-7438-A9D12E15228B}"/>
                  </a:ext>
                </a:extLst>
              </p:cNvPr>
              <p:cNvSpPr/>
              <p:nvPr/>
            </p:nvSpPr>
            <p:spPr>
              <a:xfrm>
                <a:off x="8599894" y="-33900"/>
                <a:ext cx="540000" cy="5203797"/>
              </a:xfrm>
              <a:custGeom>
                <a:avLst/>
                <a:gdLst/>
                <a:ahLst/>
                <a:cxnLst/>
                <a:rect l="l" t="t" r="r" b="b"/>
                <a:pathLst>
                  <a:path w="1513" h="166415" extrusionOk="0">
                    <a:moveTo>
                      <a:pt x="751" y="1"/>
                    </a:moveTo>
                    <a:cubicBezTo>
                      <a:pt x="346" y="1"/>
                      <a:pt x="1" y="334"/>
                      <a:pt x="1" y="751"/>
                    </a:cubicBezTo>
                    <a:lnTo>
                      <a:pt x="1" y="165664"/>
                    </a:lnTo>
                    <a:cubicBezTo>
                      <a:pt x="1" y="166081"/>
                      <a:pt x="334" y="166414"/>
                      <a:pt x="751" y="166414"/>
                    </a:cubicBezTo>
                    <a:cubicBezTo>
                      <a:pt x="1167" y="166414"/>
                      <a:pt x="1513" y="166081"/>
                      <a:pt x="1513" y="165664"/>
                    </a:cubicBezTo>
                    <a:lnTo>
                      <a:pt x="1513" y="751"/>
                    </a:lnTo>
                    <a:cubicBezTo>
                      <a:pt x="1513" y="334"/>
                      <a:pt x="1167" y="1"/>
                      <a:pt x="751" y="1"/>
                    </a:cubicBezTo>
                    <a:close/>
                  </a:path>
                </a:pathLst>
              </a:custGeom>
              <a:solidFill>
                <a:srgbClr val="C8E4FA"/>
              </a:solidFill>
              <a:ln>
                <a:solidFill>
                  <a:srgbClr val="C8E4FA"/>
                </a:solidFill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pic>
            <p:nvPicPr>
              <p:cNvPr id="9" name="圖片 13">
                <a:extLst>
                  <a:ext uri="{FF2B5EF4-FFF2-40B4-BE49-F238E27FC236}">
                    <a16:creationId xmlns:a16="http://schemas.microsoft.com/office/drawing/2014/main" id="{A86DBE65-0398-19E3-4AD2-222DDB80DB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6126" y="3858499"/>
                <a:ext cx="540000" cy="831600"/>
              </a:xfrm>
              <a:prstGeom prst="rect">
                <a:avLst/>
              </a:prstGeom>
            </p:spPr>
          </p:pic>
        </p:grpSp>
        <p:pic>
          <p:nvPicPr>
            <p:cNvPr id="6" name="圖片 3">
              <a:extLst>
                <a:ext uri="{FF2B5EF4-FFF2-40B4-BE49-F238E27FC236}">
                  <a16:creationId xmlns:a16="http://schemas.microsoft.com/office/drawing/2014/main" id="{284F37B9-6606-02E1-A356-EAC3305213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580151" y="2933598"/>
              <a:ext cx="588134" cy="394624"/>
            </a:xfrm>
            <a:prstGeom prst="rect">
              <a:avLst/>
            </a:prstGeom>
          </p:spPr>
        </p:pic>
        <p:pic>
          <p:nvPicPr>
            <p:cNvPr id="7" name="圖片 4">
              <a:extLst>
                <a:ext uri="{FF2B5EF4-FFF2-40B4-BE49-F238E27FC236}">
                  <a16:creationId xmlns:a16="http://schemas.microsoft.com/office/drawing/2014/main" id="{688293EB-239C-51F8-2DED-DE52861E91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5816" b="98440" l="368" r="32138">
                          <a14:foregroundMark x1="12782" y1="67518" x2="12782" y2="67518"/>
                          <a14:foregroundMark x1="8874" y1="69220" x2="8874" y2="69220"/>
                          <a14:foregroundMark x1="13609" y1="67092" x2="13609" y2="67092"/>
                          <a14:foregroundMark x1="14437" y1="64539" x2="14437" y2="64539"/>
                          <a14:foregroundMark x1="21149" y1="64113" x2="21149" y2="64113"/>
                          <a14:foregroundMark x1="24598" y1="60851" x2="24598" y2="60851"/>
                          <a14:foregroundMark x1="26851" y1="70355" x2="26851" y2="70355"/>
                          <a14:foregroundMark x1="27908" y1="86099" x2="27908" y2="86099"/>
                          <a14:foregroundMark x1="23264" y1="86383" x2="20920" y2="66383"/>
                          <a14:foregroundMark x1="25425" y1="76596" x2="18897" y2="58723"/>
                          <a14:foregroundMark x1="18437" y1="60567" x2="19862" y2="78440"/>
                          <a14:foregroundMark x1="19632" y1="83121" x2="24828" y2="88936"/>
                          <a14:foregroundMark x1="25747" y1="93050" x2="30161" y2="63830"/>
                          <a14:foregroundMark x1="29563" y1="60851" x2="23034" y2="52908"/>
                          <a14:foregroundMark x1="22115" y1="22270" x2="14529" y2="13191"/>
                          <a14:foregroundMark x1="15126" y1="19007" x2="11586" y2="25957"/>
                          <a14:foregroundMark x1="11816" y1="28511" x2="18805" y2="33901"/>
                          <a14:foregroundMark x1="21287" y1="35319" x2="13103" y2="41560"/>
                          <a14:foregroundMark x1="11218" y1="44823" x2="15954" y2="49645"/>
                          <a14:foregroundMark x1="22437" y1="37589" x2="16322" y2="50638"/>
                          <a14:foregroundMark x1="16184" y1="44823" x2="9333" y2="21560"/>
                          <a14:foregroundMark x1="11678" y1="58014" x2="3310" y2="77730"/>
                          <a14:foregroundMark x1="4276" y1="61560" x2="11356" y2="90780"/>
                          <a14:foregroundMark x1="14161" y1="81986" x2="7448" y2="66383"/>
                          <a14:foregroundMark x1="9103" y1="54326" x2="2943" y2="59858"/>
                          <a14:foregroundMark x1="3310" y1="62411" x2="2345" y2="69645"/>
                          <a14:foregroundMark x1="2345" y1="76170" x2="2943" y2="83121"/>
                          <a14:foregroundMark x1="5333" y1="86383" x2="8506" y2="91489"/>
                          <a14:foregroundMark x1="11356" y1="90780" x2="14161" y2="78440"/>
                          <a14:foregroundMark x1="14529" y1="75177" x2="13333" y2="59007"/>
                          <a14:foregroundMark x1="15494" y1="14894" x2="10621" y2="21560"/>
                          <a14:foregroundMark x1="10299" y1="26950" x2="10989" y2="39716"/>
                          <a14:foregroundMark x1="11586" y1="42695" x2="15816" y2="51064"/>
                          <a14:foregroundMark x1="23816" y1="55603" x2="20138" y2="62128"/>
                          <a14:foregroundMark x1="20736" y1="60851" x2="29747" y2="78440"/>
                          <a14:foregroundMark x1="18069" y1="21135" x2="21563" y2="33050"/>
                          <a14:foregroundMark x1="21057" y1="44823" x2="17563" y2="49220"/>
                          <a14:foregroundMark x1="18621" y1="46667" x2="20644" y2="52199"/>
                          <a14:foregroundMark x1="21057" y1="53617" x2="20920" y2="59858"/>
                          <a14:foregroundMark x1="7724" y1="49645" x2="4966" y2="53901"/>
                          <a14:backgroundMark x1="10023" y1="9787" x2="10023" y2="9787"/>
                          <a14:backgroundMark x1="4506" y1="34610" x2="4506" y2="34610"/>
                          <a14:backgroundMark x1="28736" y1="31064" x2="28736" y2="31064"/>
                          <a14:backgroundMark x1="17149" y1="90780" x2="17149" y2="90780"/>
                          <a14:backgroundMark x1="4368" y1="94043" x2="4368" y2="94043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7422"/>
            <a:stretch/>
          </p:blipFill>
          <p:spPr>
            <a:xfrm>
              <a:off x="8623926" y="3336314"/>
              <a:ext cx="484400" cy="481957"/>
            </a:xfrm>
            <a:prstGeom prst="rect">
              <a:avLst/>
            </a:prstGeom>
          </p:spPr>
        </p:pic>
      </p:grp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146A22A-9A3C-6AF6-6AD2-E72000B779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E85E0C-F6DF-4C2C-9974-C2547ED92EE1}" type="slidenum">
              <a:rPr lang="zh-TW" altLang="en-US" smtClean="0"/>
              <a:t>10</a:t>
            </a:fld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CFA0D48-5F25-6E91-26B0-8240F60B00F1}"/>
              </a:ext>
            </a:extLst>
          </p:cNvPr>
          <p:cNvSpPr txBox="1"/>
          <p:nvPr/>
        </p:nvSpPr>
        <p:spPr>
          <a:xfrm>
            <a:off x="1691089" y="1967833"/>
            <a:ext cx="57618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7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zh-TW" altLang="en-US" sz="7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5964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Timeline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5EB2FC"/>
      </a:accent1>
      <a:accent2>
        <a:srgbClr val="69E781"/>
      </a:accent2>
      <a:accent3>
        <a:srgbClr val="869FB2"/>
      </a:accent3>
      <a:accent4>
        <a:srgbClr val="4949E7"/>
      </a:accent4>
      <a:accent5>
        <a:srgbClr val="FCBD24"/>
      </a:accent5>
      <a:accent6>
        <a:srgbClr val="EC3A3B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77935</TotalTime>
  <Words>882</Words>
  <Application>Microsoft Office PowerPoint</Application>
  <PresentationFormat>如螢幕大小 (16:9)</PresentationFormat>
  <Paragraphs>149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9" baseType="lpstr">
      <vt:lpstr>Fira Sans Extra Condensed</vt:lpstr>
      <vt:lpstr>Fira Sans Extra Condensed SemiBold</vt:lpstr>
      <vt:lpstr>Arial</vt:lpstr>
      <vt:lpstr>Wingdings</vt:lpstr>
      <vt:lpstr>Times New Roman</vt:lpstr>
      <vt:lpstr>CMU Sans Serif</vt:lpstr>
      <vt:lpstr>CMU Sans Serif Medium</vt:lpstr>
      <vt:lpstr>Roboto</vt:lpstr>
      <vt:lpstr>Timeline Infographics by Slidesgo</vt:lpstr>
      <vt:lpstr>FAST-Calib and LiDAR Comparison</vt:lpstr>
      <vt:lpstr>Outline</vt:lpstr>
      <vt:lpstr>核心摘要</vt:lpstr>
      <vt:lpstr>無刷馬達與驅動原理 </vt:lpstr>
      <vt:lpstr>硬體架構與接線規劃</vt:lpstr>
      <vt:lpstr>硬體架構與接線規劃</vt:lpstr>
      <vt:lpstr>控制系統設計流程</vt:lpstr>
      <vt:lpstr>控制系統設計流程</vt:lpstr>
      <vt:lpstr>預期成果與下一步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Timeline Infographics</dc:title>
  <dc:creator>eatshit!</dc:creator>
  <cp:lastModifiedBy>Lego Dai</cp:lastModifiedBy>
  <cp:revision>2468</cp:revision>
  <dcterms:modified xsi:type="dcterms:W3CDTF">2025-12-28T21:57:39Z</dcterms:modified>
</cp:coreProperties>
</file>