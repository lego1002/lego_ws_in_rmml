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629" r:id="rId3"/>
    <p:sldId id="640" r:id="rId4"/>
    <p:sldId id="611" r:id="rId5"/>
    <p:sldId id="641" r:id="rId6"/>
    <p:sldId id="634" r:id="rId7"/>
    <p:sldId id="642" r:id="rId8"/>
    <p:sldId id="633" r:id="rId9"/>
    <p:sldId id="636" r:id="rId10"/>
  </p:sldIdLst>
  <p:sldSz cx="9144000" cy="5143500" type="screen16x9"/>
  <p:notesSz cx="6858000" cy="9144000"/>
  <p:embeddedFontLst>
    <p:embeddedFont>
      <p:font typeface="微軟正黑體" panose="020B0604030504040204" pitchFamily="34" charset="-120"/>
      <p:regular r:id="rId13"/>
      <p:bold r:id="rId14"/>
    </p:embeddedFont>
    <p:embeddedFont>
      <p:font typeface="Fira Sans Extra Condensed" panose="020B0503050000020004" pitchFamily="34" charset="0"/>
      <p:regular r:id="rId15"/>
      <p:bold r:id="rId16"/>
      <p:italic r:id="rId17"/>
      <p:boldItalic r:id="rId18"/>
    </p:embeddedFont>
    <p:embeddedFont>
      <p:font typeface="Fira Sans Extra Condensed SemiBold" panose="02020500000000000000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程偉軒" initials="程偉軒" lastIdx="2" clrIdx="0">
    <p:extLst>
      <p:ext uri="{19B8F6BF-5375-455C-9EA6-DF929625EA0E}">
        <p15:presenceInfo xmlns:p15="http://schemas.microsoft.com/office/powerpoint/2012/main" userId="程偉軒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0824"/>
    <a:srgbClr val="F2F2F2"/>
    <a:srgbClr val="3D98DE"/>
    <a:srgbClr val="D9D9D9"/>
    <a:srgbClr val="D8C0CB"/>
    <a:srgbClr val="FBF4CB"/>
    <a:srgbClr val="F7EA97"/>
    <a:srgbClr val="B7DED2"/>
    <a:srgbClr val="6FB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 autoAdjust="0"/>
    <p:restoredTop sz="88300" autoAdjust="0"/>
  </p:normalViewPr>
  <p:slideViewPr>
    <p:cSldViewPr snapToGrid="0">
      <p:cViewPr varScale="1">
        <p:scale>
          <a:sx n="102" d="100"/>
          <a:sy n="102" d="100"/>
        </p:scale>
        <p:origin x="759" y="51"/>
      </p:cViewPr>
      <p:guideLst>
        <p:guide orient="horz" pos="162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24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A903C8D7-525E-43C5-AB6E-8490CBE18B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45DA84-E1D2-4105-9536-2A350565E3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6EBB2-A0A6-4D46-9623-37769B0BB09E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78F254-BA60-4157-AA8B-719C2F0EE7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DEFA8E-41C3-4326-A810-67E8301694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F5A0E-03AE-4705-8FEE-72A9FEBA22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7725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8dd369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8dd3693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3918F6D-1406-56CA-D765-D0C1E603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9C2207D-C10C-C4D3-A64E-30D6ADBB5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35B61F78-78C3-B143-1AEE-97ED4F6CD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4424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1C47BCC-A873-2F58-B930-146D367B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F9E3C071-C1A7-C84A-9B76-D85C081F0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07F35F78-A289-E416-D228-88632BE1A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238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3830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CF7EA73A-81E0-11D6-1709-76933BB6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4899E081-310A-BB3B-0979-21FB7FDEE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A11DAC39-4271-89C3-EF08-3C0217C44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850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E35D8EAF-3D98-B460-217A-D62E10C6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A4DE91C-A806-1947-E879-8EE25C22B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E4D50807-9EE3-0BC8-E183-800FCA169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274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69457AE5-CAB6-8850-62EA-392748BF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4AC542F0-E75B-0075-2F20-58AE4EACB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60A9E185-6E87-EABD-E97A-1839E8421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7337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2BF50803-4E8C-911E-504A-10EF23C6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CA060DE4-F20B-FF66-E90B-BC0133631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4D03E5D5-0219-00AB-F90D-5F2B8E189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0082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61589EB3-115F-726E-B667-F7E0F878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DB904A3-56DD-62C4-F7AB-02FB41613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589FA515-B014-04B7-E6E4-8B635C07E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425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1_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8AE943-BFB4-4EB6-9556-2FD6D9B8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6488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50514" y="1623400"/>
            <a:ext cx="3514500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50514" y="3142400"/>
            <a:ext cx="35145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7351A6-6C41-464F-B929-152144488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0076" y="4767263"/>
            <a:ext cx="2057400" cy="274637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dirty="0"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2D217-643E-4228-AA66-0286F7C5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Google Shape;46;p12">
            <a:extLst>
              <a:ext uri="{FF2B5EF4-FFF2-40B4-BE49-F238E27FC236}">
                <a16:creationId xmlns:a16="http://schemas.microsoft.com/office/drawing/2014/main" id="{7A8ABE70-C036-4475-B20F-9E1075554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10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4E10BF-0131-4079-A0E6-0EAD49468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54133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D98DE"/>
                </a:solidFill>
                <a:latin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48" r:id="rId2"/>
    <p:sldLayoutId id="2147483649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hyperlink" Target="mailto:b11602057@ntu.edu.tw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mailto:plyen@ntu.edu.t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5">
            <a:extLst>
              <a:ext uri="{FF2B5EF4-FFF2-40B4-BE49-F238E27FC236}">
                <a16:creationId xmlns:a16="http://schemas.microsoft.com/office/drawing/2014/main" id="{B7B20C1E-0C15-41E1-83F9-59791232E1F8}"/>
              </a:ext>
            </a:extLst>
          </p:cNvPr>
          <p:cNvSpPr/>
          <p:nvPr/>
        </p:nvSpPr>
        <p:spPr>
          <a:xfrm>
            <a:off x="8599894" y="-33900"/>
            <a:ext cx="540000" cy="5203797"/>
          </a:xfrm>
          <a:custGeom>
            <a:avLst/>
            <a:gdLst/>
            <a:ahLst/>
            <a:cxnLst/>
            <a:rect l="l" t="t" r="r" b="b"/>
            <a:pathLst>
              <a:path w="1513" h="166415" extrusionOk="0">
                <a:moveTo>
                  <a:pt x="751" y="1"/>
                </a:moveTo>
                <a:cubicBezTo>
                  <a:pt x="346" y="1"/>
                  <a:pt x="1" y="334"/>
                  <a:pt x="1" y="751"/>
                </a:cubicBezTo>
                <a:lnTo>
                  <a:pt x="1" y="165664"/>
                </a:lnTo>
                <a:cubicBezTo>
                  <a:pt x="1" y="166081"/>
                  <a:pt x="334" y="166414"/>
                  <a:pt x="751" y="166414"/>
                </a:cubicBezTo>
                <a:cubicBezTo>
                  <a:pt x="1167" y="166414"/>
                  <a:pt x="1513" y="166081"/>
                  <a:pt x="1513" y="165664"/>
                </a:cubicBezTo>
                <a:lnTo>
                  <a:pt x="1513" y="751"/>
                </a:lnTo>
                <a:cubicBezTo>
                  <a:pt x="1513" y="334"/>
                  <a:pt x="1167" y="1"/>
                  <a:pt x="751" y="1"/>
                </a:cubicBezTo>
                <a:close/>
              </a:path>
            </a:pathLst>
          </a:custGeom>
          <a:solidFill>
            <a:srgbClr val="C8E4FA"/>
          </a:solidFill>
          <a:ln>
            <a:solidFill>
              <a:srgbClr val="C8E4F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60153" y="523781"/>
            <a:ext cx="8223688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2800"/>
            </a:pPr>
            <a:r>
              <a:rPr lang="en-US" altLang="zh-TW" sz="27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BLDC</a:t>
            </a:r>
            <a:r>
              <a:rPr lang="zh-TW" altLang="en-US" sz="27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Research</a:t>
            </a:r>
            <a:endParaRPr sz="27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785928" y="1929581"/>
            <a:ext cx="7572138" cy="1263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Lego Dai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Advisor: Ping-Lang Yen Ph.D.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December, 2025, Winter semester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RMML Meeting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>
              <a:cs typeface="CMU Sans Serif Medium" panose="02000603000000000000" pitchFamily="2" charset="0"/>
            </a:endParaRPr>
          </a:p>
        </p:txBody>
      </p:sp>
      <p:sp>
        <p:nvSpPr>
          <p:cNvPr id="8" name="Google Shape;56;p15">
            <a:extLst>
              <a:ext uri="{FF2B5EF4-FFF2-40B4-BE49-F238E27FC236}">
                <a16:creationId xmlns:a16="http://schemas.microsoft.com/office/drawing/2014/main" id="{46447D95-D937-4153-89AE-5B1D288B4F8D}"/>
              </a:ext>
            </a:extLst>
          </p:cNvPr>
          <p:cNvSpPr txBox="1">
            <a:spLocks/>
          </p:cNvSpPr>
          <p:nvPr/>
        </p:nvSpPr>
        <p:spPr>
          <a:xfrm>
            <a:off x="33074" y="4380252"/>
            <a:ext cx="3673361" cy="115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   Tzu-Yu Dai is with </a:t>
            </a:r>
            <a:r>
              <a:rPr lang="en-US" altLang="zh-TW" sz="8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3"/>
              </a:rPr>
              <a:t>b12611017@ntu.edu.tw</a:t>
            </a:r>
            <a:endParaRPr lang="en-US" altLang="zh-TW" sz="8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   Ping-Lang Yen is with </a:t>
            </a:r>
            <a:r>
              <a:rPr lang="en-US" altLang="zh-TW" sz="8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/>
              </a:rPr>
              <a:t>plyen@ntu.edu.tw</a:t>
            </a:r>
            <a:endParaRPr lang="en-US" altLang="zh-TW" sz="8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/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  <a:cs typeface="CMU Sans Serif Medium" panose="02000603000000000000" pitchFamily="2" charset="0"/>
            </a:endParaRPr>
          </a:p>
          <a:p>
            <a:pPr marL="0" indent="0"/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  <a:cs typeface="CMU Sans Serif Medium" panose="02000603000000000000" pitchFamily="2" charset="0"/>
            </a:endParaRPr>
          </a:p>
        </p:txBody>
      </p:sp>
      <p:pic>
        <p:nvPicPr>
          <p:cNvPr id="2" name="圖片 6">
            <a:extLst>
              <a:ext uri="{FF2B5EF4-FFF2-40B4-BE49-F238E27FC236}">
                <a16:creationId xmlns:a16="http://schemas.microsoft.com/office/drawing/2014/main" id="{56E3D0AD-8AF8-2A21-D048-5623808D2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581" y="3604600"/>
            <a:ext cx="659168" cy="1015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E0BF6C-8D87-F267-9D15-2AFF2AD9B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820" y="3625227"/>
            <a:ext cx="1547399" cy="994492"/>
          </a:xfrm>
          <a:prstGeom prst="rect">
            <a:avLst/>
          </a:prstGeom>
        </p:spPr>
      </p:pic>
      <p:pic>
        <p:nvPicPr>
          <p:cNvPr id="4" name="圖片 4">
            <a:extLst>
              <a:ext uri="{FF2B5EF4-FFF2-40B4-BE49-F238E27FC236}">
                <a16:creationId xmlns:a16="http://schemas.microsoft.com/office/drawing/2014/main" id="{777D5ABA-0F8D-CFBE-948B-5B076085790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4930390" y="3604040"/>
            <a:ext cx="1023973" cy="1018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2FD154DA-4E9E-D5A6-B01B-8A37BD86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B3791CF-CDA5-F797-625F-948919194495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B74DFA5D-C256-C540-05D2-6FEF1E576141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D89570-0376-7C01-BF26-AB33C928670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9F0C2EE8-9567-8304-FEDA-89115EE85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972CD41-3E12-A5BB-DCFA-56C7D5CC3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697E5A1-5996-77F8-1429-F8464D764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504583-A7DC-0594-D76C-F2F1F41BBD20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STM32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對無刷馬達進行閉迴路速度控制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硬體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Tech DEV(104)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驅動器，搭配三相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BLDC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馬達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安全機制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系統包含回生電阻以處理反電動勢，並使用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STO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驅動器上的腳位作為硬體安全迴路。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E5F4270-6134-C4F4-C74D-6ED012672D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1C901FCC-87D5-E4E1-B92E-F42620D676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dirty="0"/>
              <a:t>核心摘要</a:t>
            </a:r>
            <a:endParaRPr lang="en-US" altLang="zh-TW" sz="24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8CEF060-0B1E-1134-26DE-5A5E538EBFB4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563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81123EE-2C58-3FAE-0052-A0CE81A1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513401E-A8C8-6088-8C42-5CD67411FA0F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97B7875C-1AE8-D08A-43C9-2D526DF53D4E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37506E4-BC56-4215-221A-1D5C2839AC0E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CE7635BA-52BE-CED4-0B57-E9067F556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3D484AAB-CEF0-DF32-20DC-CB40C47C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B7B5A8EB-96C5-5961-EDF3-3FF29C972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C26458-823E-BAF1-ACD2-A7C7AE62F21C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驅動器控制模式選擇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本實驗使用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DEV(104)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驅動器，根據手冊，我們將利用兩種控制模式：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Duty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模式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(Mode 1)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：驅動器僅作為功率放大器，輸出的電壓佔空比（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Duty Cycle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）直接由輸入指令控制。此模式用於系統鑑別實驗，以獲取馬達原始響應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速度模式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(Mode 0)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：驅動器內部雖有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，但為了研究控制演算法，我們將在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STM32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端實作控制迴路，透過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Duty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模式發送指令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EB6DEB9-3355-1C00-72B9-FCB3A09406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F52885CC-6F3C-30BF-8D7F-920FE7B8C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dirty="0"/>
              <a:t>無刷馬達與驅動原理 </a:t>
            </a:r>
            <a:endParaRPr lang="en-US" altLang="zh-TW" sz="24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ED60094-4945-A7B1-6B92-D2DFEA7C5D6F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407ABE-FB8D-CE78-6A28-910A1D5DA8F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C685194-F9B7-60D1-4185-A4FE1372DA7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AC41B5-083C-A158-2D6C-3AA14C8298F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44F95E5-A8CF-514D-3286-71AC412BF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9003049-7FCE-C4CF-59D9-D74508C7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8431988-1159-8B6B-4E5D-02E668D919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E6589F-1E9D-F439-D4EC-58C7A8953222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訊號控制介面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(STM32 &lt;-&gt; DEV Driver)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指令輸入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使用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STM32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PWM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訊號連接至驅動器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CN7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接口的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XH0+ (Pin 17)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XH0- (Pin 19) 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抗干擾設計：採用差動輸入（或模擬差動接法），增強工廠環境下的抗雜訊能力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方向控制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STM32 GPIO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連接至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XH1+ (Pin 21)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XH1- (Pin 23)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控制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CW/CCW 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速度回授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讀取驅動器的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SPD-OUT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訊號（需配置數位輸出功能），將馬達轉速回傳至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STM32</a:t>
            </a: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Zheng, C., &amp; Zhang, F. (2025). FAST-Calib: LiDAR-Camera Extrinsic Calibration in One Second. 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arXiv:2507.17210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. https://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arxiv.org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/abs/2507.17210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33263A-151B-4B97-AD39-572BCE7DA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A36A47D-4295-47BC-97C0-B0C708162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dirty="0"/>
              <a:t>硬體架構與接線規劃</a:t>
            </a:r>
            <a:endParaRPr lang="en-US" altLang="zh-TW" sz="24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3F0BE8F-C57E-29AB-2139-B038E1FB80D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135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64BEE976-3932-88F6-4081-285CEE5F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8DB519D-FC6D-1363-894D-7AFBEC4E14C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12BCDA0D-CCCB-B6D5-FFBA-E74E7A85B2DB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B25FF954-93A5-1C14-34B4-010970DF3D35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59228A86-5D45-76E6-5323-653950805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EACEFBA1-9752-BB78-63F0-CCCBB4153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020AB3CC-7156-1129-AE2A-AE00D78C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A74C15-1446-ABAE-E46B-E2E1BA1B1063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安全與能量管理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回生電阻 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連接於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CN4 (R+/R-)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。當馬達急減速時，將反電動勢產生的回生能量轉換為熱能，防止驅動器過壓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(OVP) 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STO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安全扭矩關閉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STO1 (Pin 25)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STO2 (Pin 26)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必須接入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5~30V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電源。這是硬體級別的斷電保護，確保緊急狀況下能物理切斷動力 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接地系統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電源系統採用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PELV 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保護特低電壓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接地方式，將電源負極接地，以導引電磁干擾與靜電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Zheng, C., &amp; Zhang, F. (2025). FAST-Calib: LiDAR-Camera Extrinsic Calibration in One Second. 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arXiv:2507.17210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. https://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arxiv.org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/abs/2507.17210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49CFE4-F2B2-10A3-1792-4760533204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37C248DD-D638-25BE-E475-D783D90B3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dirty="0"/>
              <a:t>硬體架構與接線規劃</a:t>
            </a:r>
            <a:endParaRPr lang="en-US" altLang="zh-TW" sz="24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01FA3D56-BB5F-EC13-3098-0AA13576B7E5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795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9D6658E3-B357-A4F5-091C-89F526DB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08447C-354D-1CFF-F9EA-A6D07DDF880C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7B7C00A8-F33C-3077-D1DC-38798F6DC8F4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5325F6A8-7961-8E5B-5EC3-54B300208474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D15C292-2A04-C624-069B-795B2E9AE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1C6C744A-6DBF-8146-6F9D-4D55B27B7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765671B5-8B64-6AD8-6245-DB3A172ECD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8C3E2C-67C0-1944-CB55-C50E557CD445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階段一：系統鑑別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目的：將「驅動器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馬達」視為一個黑盒子，求出其轉移函數（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Transfer Function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DEV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驅動器參數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01-11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(Duty Mode) </a:t>
            </a:r>
          </a:p>
          <a:p>
            <a:pPr lvl="2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STM32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發送一個步階指令（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Input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），例如瞬間給定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30% Duty Cycle</a:t>
            </a:r>
          </a:p>
          <a:p>
            <a:pPr lvl="2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紀錄馬達轉速從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上升至穩態的響應曲線。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數學模型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預期無刷馬達速度響應近似一階系統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28700" lvl="2" indent="0" algn="ctr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G(s)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=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el-GR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τ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s+1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 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增益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：穩態轉速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/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輸入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Duty %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l-GR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τ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時間常數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：轉速達到穩態值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63.2%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所需時間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38E2D58-0616-E730-D4AB-44BBB374B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6DE067B8-CEAF-9CB7-F9D7-E2730B8D5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dirty="0"/>
              <a:t>控制系統設計流程</a:t>
            </a:r>
            <a:endParaRPr lang="en-US" altLang="zh-TW" sz="24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8B6EFC8-264A-9795-68BF-51B742D752B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97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6C7105FA-B2F5-7A23-4CEE-65BABE15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ECB8B0-C7C0-293A-0CD7-AEF2485B5252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23F97BA-9A86-DC57-AAD2-025EE061288A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073A7BAD-0881-2CBC-E7B4-36076F737876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4589E7D9-12D7-F2A9-FC1F-E0B424E3C0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BC1345C4-1E95-CEEF-06A8-F8C963D1A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B411DD53-67B1-1AD7-41E8-E9EA504324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823F17-D587-3C26-CA8C-A2769A7F5917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階段二：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控制器設計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演算法：使用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控制，在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STM32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上實作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：提升響應速度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：消除穩態誤差（確保目標速度與實際速度一致）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參數計算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Roboto" panose="02000000000000000000" pitchFamily="2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根據階段一測得的 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K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 與 </a:t>
            </a:r>
            <a:r>
              <a:rPr lang="el-GR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τ 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，利用極點配置法計算 </a:t>
            </a:r>
            <a:r>
              <a:rPr lang="en-US" altLang="zh-TW" sz="1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K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p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與 </a:t>
            </a:r>
            <a:r>
              <a:rPr lang="en-US" altLang="zh-TW" sz="1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 panose="02000000000000000000" pitchFamily="2" charset="0"/>
              </a:rPr>
              <a:t>Kd</a:t>
            </a: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5A7B89-AE55-73CE-6FFD-46A4F56E6E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A57D163E-8EB1-7EB4-8CCF-6C997287A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dirty="0"/>
              <a:t>控制系統設計流程</a:t>
            </a:r>
            <a:endParaRPr lang="en-US" altLang="zh-TW" sz="24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3F7BB77-4DDE-9B6F-D48D-3CE34E5CC714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3073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76648E3B-6D41-6E08-9598-6390EA80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3250CF-7AA3-4C8F-F65A-AE3603900D6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B9E05A3-5D80-7ABB-4CBD-0BC5E9C55028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63F3572-75E9-9123-A6CD-4FA5F3611BA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37DC8D28-66DB-9945-78BE-31B5D1933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F1250723-8359-2B9A-E261-3AA38EDFA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A8670A5C-713E-A65E-BB52-560E94D50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5C1A82-50E1-C30C-15D8-E2EE6D3120AA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739582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完成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STM32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DEV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驅動器的通訊與訊號對接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繪製出馬達的開迴路步階響應圖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實現閉迴路速度控制，驗證在負載變化下轉速的穩定性</a:t>
            </a: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477283A-C5CB-702D-63F1-052AC6B55D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91A6EF89-16B5-C6DD-72E1-B06C67A43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dirty="0"/>
              <a:t>預期成果與下一步</a:t>
            </a:r>
            <a:endParaRPr lang="en-US" altLang="zh-TW" sz="24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05BE5A2-E958-40EB-2A1B-E5CF3B4569CD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342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C8E5E33-9BA1-86E3-3FC6-A4831BC5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E74A7F2-44FA-52D2-C96A-F806A654F056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6CEDE018-F145-8BA0-11DE-E473D43D121F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525835B-E741-7390-7438-A9D12E15228B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A86DBE65-0398-19E3-4AD2-222DDB80D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284F37B9-6606-02E1-A356-EAC330521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688293EB-239C-51F8-2DED-DE52861E9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46A22A-9A3C-6AF6-6AD2-E72000B77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CFA0D48-5F25-6E91-26B0-8240F60B00F1}"/>
              </a:ext>
            </a:extLst>
          </p:cNvPr>
          <p:cNvSpPr txBox="1"/>
          <p:nvPr/>
        </p:nvSpPr>
        <p:spPr>
          <a:xfrm>
            <a:off x="1691089" y="1967833"/>
            <a:ext cx="57618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zh-TW" altLang="en-US" sz="7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96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77967</TotalTime>
  <Words>742</Words>
  <Application>Microsoft Office PowerPoint</Application>
  <PresentationFormat>如螢幕大小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微軟正黑體</vt:lpstr>
      <vt:lpstr>Times New Roman</vt:lpstr>
      <vt:lpstr>Fira Sans Extra Condensed</vt:lpstr>
      <vt:lpstr>Roboto</vt:lpstr>
      <vt:lpstr>CMU Sans Serif Medium</vt:lpstr>
      <vt:lpstr>Arial</vt:lpstr>
      <vt:lpstr>Fira Sans Extra Condensed SemiBold</vt:lpstr>
      <vt:lpstr>Timeline Infographics by Slidesgo</vt:lpstr>
      <vt:lpstr>BLDC Theory Research</vt:lpstr>
      <vt:lpstr>核心摘要</vt:lpstr>
      <vt:lpstr>無刷馬達與驅動原理 </vt:lpstr>
      <vt:lpstr>硬體架構與接線規劃</vt:lpstr>
      <vt:lpstr>硬體架構與接線規劃</vt:lpstr>
      <vt:lpstr>控制系統設計流程</vt:lpstr>
      <vt:lpstr>控制系統設計流程</vt:lpstr>
      <vt:lpstr>預期成果與下一步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Infographics</dc:title>
  <dc:creator>eatshit!</dc:creator>
  <cp:lastModifiedBy>Lego Dai</cp:lastModifiedBy>
  <cp:revision>2469</cp:revision>
  <dcterms:modified xsi:type="dcterms:W3CDTF">2025-12-28T22:47:09Z</dcterms:modified>
</cp:coreProperties>
</file>