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640" r:id="rId3"/>
    <p:sldId id="611" r:id="rId4"/>
    <p:sldId id="641" r:id="rId5"/>
    <p:sldId id="634" r:id="rId6"/>
    <p:sldId id="644" r:id="rId7"/>
    <p:sldId id="642" r:id="rId8"/>
    <p:sldId id="633" r:id="rId9"/>
  </p:sldIdLst>
  <p:sldSz cx="9144000" cy="5143500" type="screen16x9"/>
  <p:notesSz cx="6858000" cy="9144000"/>
  <p:embeddedFontLst>
    <p:embeddedFont>
      <p:font typeface="微軟正黑體" panose="020B0604030504040204" pitchFamily="34" charset="-120"/>
      <p:regular r:id="rId12"/>
      <p:bold r:id="rId13"/>
    </p:embeddedFont>
    <p:embeddedFont>
      <p:font typeface="Fira Sans Extra Condensed" panose="020B0503050000020004" pitchFamily="34" charset="0"/>
      <p:regular r:id="rId14"/>
      <p:bold r:id="rId15"/>
      <p:italic r:id="rId16"/>
      <p:boldItalic r:id="rId17"/>
    </p:embeddedFont>
    <p:embeddedFont>
      <p:font typeface="Fira Sans Extra Condensed SemiBold" panose="02020500000000000000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程偉軒" initials="程偉軒" lastIdx="2" clrIdx="0">
    <p:extLst>
      <p:ext uri="{19B8F6BF-5375-455C-9EA6-DF929625EA0E}">
        <p15:presenceInfo xmlns:p15="http://schemas.microsoft.com/office/powerpoint/2012/main" userId="程偉軒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F0824"/>
    <a:srgbClr val="F2F2F2"/>
    <a:srgbClr val="3D98DE"/>
    <a:srgbClr val="D9D9D9"/>
    <a:srgbClr val="D8C0CB"/>
    <a:srgbClr val="FBF4CB"/>
    <a:srgbClr val="F7EA97"/>
    <a:srgbClr val="B7DED2"/>
    <a:srgbClr val="6FB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0" autoAdjust="0"/>
    <p:restoredTop sz="88300" autoAdjust="0"/>
  </p:normalViewPr>
  <p:slideViewPr>
    <p:cSldViewPr snapToGrid="0">
      <p:cViewPr varScale="1">
        <p:scale>
          <a:sx n="102" d="100"/>
          <a:sy n="102" d="100"/>
        </p:scale>
        <p:origin x="84" y="39"/>
      </p:cViewPr>
      <p:guideLst>
        <p:guide orient="horz" pos="162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3245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A903C8D7-525E-43C5-AB6E-8490CBE18B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445DA84-E1D2-4105-9536-2A350565E3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6EBB2-A0A6-4D46-9623-37769B0BB09E}" type="datetimeFigureOut">
              <a:rPr lang="zh-TW" altLang="en-US" smtClean="0"/>
              <a:t>2026/1/16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378F254-BA60-4157-AA8B-719C2F0EE7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DEFA8E-41C3-4326-A810-67E8301694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F5A0E-03AE-4705-8FEE-72A9FEBA22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7725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8dd3693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8dd36938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B1C47BCC-A873-2F58-B930-146D367B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F9E3C071-C1A7-C84A-9B76-D85C081F0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07F35F78-A289-E416-D228-88632BE1A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8238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3830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CF7EA73A-81E0-11D6-1709-76933BB60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4899E081-310A-BB3B-0979-21FB7FDEE6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A11DAC39-4271-89C3-EF08-3C0217C443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1850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E35D8EAF-3D98-B460-217A-D62E10C6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9A4DE91C-A806-1947-E879-8EE25C22B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E4D50807-9EE3-0BC8-E183-800FCA169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2748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EA664B18-CEFB-DE68-A7A6-C023889A3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4F443213-EDB6-BEE4-F771-7EEBF8274C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EAD9B910-137C-B51D-C42C-7C96BBBE7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2032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69457AE5-CAB6-8850-62EA-392748BF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4AC542F0-E75B-0075-2F20-58AE4EACBD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60A9E185-6E87-EABD-E97A-1839E8421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7337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>
          <a:extLst>
            <a:ext uri="{FF2B5EF4-FFF2-40B4-BE49-F238E27FC236}">
              <a16:creationId xmlns:a16="http://schemas.microsoft.com/office/drawing/2014/main" id="{2BF50803-4E8C-911E-504A-10EF23C6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06ada915c_0_2506:notes">
            <a:extLst>
              <a:ext uri="{FF2B5EF4-FFF2-40B4-BE49-F238E27FC236}">
                <a16:creationId xmlns:a16="http://schemas.microsoft.com/office/drawing/2014/main" id="{CA060DE4-F20B-FF66-E90B-BC0133631E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06ada915c_0_2506:notes">
            <a:extLst>
              <a:ext uri="{FF2B5EF4-FFF2-40B4-BE49-F238E27FC236}">
                <a16:creationId xmlns:a16="http://schemas.microsoft.com/office/drawing/2014/main" id="{4D03E5D5-0219-00AB-F90D-5F2B8E1898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0082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 userDrawn="1">
  <p:cSld name="1_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38AE943-BFB4-4EB6-9556-2FD6D9B8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164889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50514" y="1623400"/>
            <a:ext cx="3514500" cy="14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50514" y="3142400"/>
            <a:ext cx="35145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57351A6-6C41-464F-B929-152144488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0076" y="4767263"/>
            <a:ext cx="2057400" cy="274637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fld id="{87E85E0C-F6DF-4C2C-9974-C2547ED92EE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dirty="0"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2D217-643E-4228-AA66-0286F7C5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Google Shape;46;p12">
            <a:extLst>
              <a:ext uri="{FF2B5EF4-FFF2-40B4-BE49-F238E27FC236}">
                <a16:creationId xmlns:a16="http://schemas.microsoft.com/office/drawing/2014/main" id="{7A8ABE70-C036-4475-B20F-9E10755540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109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D4E10BF-0131-4079-A0E6-0EAD49468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54133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D98DE"/>
                </a:solidFill>
                <a:latin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fld id="{87E85E0C-F6DF-4C2C-9974-C2547ED92EE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48" r:id="rId2"/>
    <p:sldLayoutId id="2147483649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2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微軟正黑體" panose="020B0604030504040204" pitchFamily="34" charset="-120"/>
          <a:ea typeface="微軟正黑體" panose="020B0604030504040204" pitchFamily="34" charset="-12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微軟正黑體" panose="020B0604030504040204" pitchFamily="34" charset="-120"/>
          <a:ea typeface="微軟正黑體" panose="020B0604030504040204" pitchFamily="34" charset="-12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hyperlink" Target="mailto:b11602057@ntu.edu.tw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mailto:plyen@ntu.edu.t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5">
            <a:extLst>
              <a:ext uri="{FF2B5EF4-FFF2-40B4-BE49-F238E27FC236}">
                <a16:creationId xmlns:a16="http://schemas.microsoft.com/office/drawing/2014/main" id="{B7B20C1E-0C15-41E1-83F9-59791232E1F8}"/>
              </a:ext>
            </a:extLst>
          </p:cNvPr>
          <p:cNvSpPr/>
          <p:nvPr/>
        </p:nvSpPr>
        <p:spPr>
          <a:xfrm>
            <a:off x="8599894" y="-33900"/>
            <a:ext cx="540000" cy="5203797"/>
          </a:xfrm>
          <a:custGeom>
            <a:avLst/>
            <a:gdLst/>
            <a:ahLst/>
            <a:cxnLst/>
            <a:rect l="l" t="t" r="r" b="b"/>
            <a:pathLst>
              <a:path w="1513" h="166415" extrusionOk="0">
                <a:moveTo>
                  <a:pt x="751" y="1"/>
                </a:moveTo>
                <a:cubicBezTo>
                  <a:pt x="346" y="1"/>
                  <a:pt x="1" y="334"/>
                  <a:pt x="1" y="751"/>
                </a:cubicBezTo>
                <a:lnTo>
                  <a:pt x="1" y="165664"/>
                </a:lnTo>
                <a:cubicBezTo>
                  <a:pt x="1" y="166081"/>
                  <a:pt x="334" y="166414"/>
                  <a:pt x="751" y="166414"/>
                </a:cubicBezTo>
                <a:cubicBezTo>
                  <a:pt x="1167" y="166414"/>
                  <a:pt x="1513" y="166081"/>
                  <a:pt x="1513" y="165664"/>
                </a:cubicBezTo>
                <a:lnTo>
                  <a:pt x="1513" y="751"/>
                </a:lnTo>
                <a:cubicBezTo>
                  <a:pt x="1513" y="334"/>
                  <a:pt x="1167" y="1"/>
                  <a:pt x="751" y="1"/>
                </a:cubicBezTo>
                <a:close/>
              </a:path>
            </a:pathLst>
          </a:custGeom>
          <a:solidFill>
            <a:srgbClr val="C8E4FA"/>
          </a:solidFill>
          <a:ln>
            <a:solidFill>
              <a:srgbClr val="C8E4FA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60153" y="523781"/>
            <a:ext cx="8223688" cy="14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2800"/>
            </a:pPr>
            <a:r>
              <a:rPr lang="en-US" altLang="zh-TW" sz="2800" b="1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BLDC</a:t>
            </a:r>
            <a:r>
              <a:rPr lang="zh-TW" altLang="en-US" sz="2800" b="1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b="1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br>
              <a:rPr lang="en-US" altLang="zh-TW" sz="2700" b="1" dirty="0">
                <a:solidFill>
                  <a:srgbClr val="3D98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System Identification &amp; Transfer Function Derivation</a:t>
            </a:r>
            <a:endParaRPr sz="1600" b="1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785928" y="1929581"/>
            <a:ext cx="7572138" cy="12631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Lego Dai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Advisor: Ping-Lang Yen Ph.D.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January, 2026, Winter semester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RMML Meeting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dirty="0">
              <a:cs typeface="CMU Sans Serif Medium" panose="02000603000000000000" pitchFamily="2" charset="0"/>
            </a:endParaRPr>
          </a:p>
        </p:txBody>
      </p:sp>
      <p:sp>
        <p:nvSpPr>
          <p:cNvPr id="8" name="Google Shape;56;p15">
            <a:extLst>
              <a:ext uri="{FF2B5EF4-FFF2-40B4-BE49-F238E27FC236}">
                <a16:creationId xmlns:a16="http://schemas.microsoft.com/office/drawing/2014/main" id="{46447D95-D937-4153-89AE-5B1D288B4F8D}"/>
              </a:ext>
            </a:extLst>
          </p:cNvPr>
          <p:cNvSpPr txBox="1">
            <a:spLocks/>
          </p:cNvSpPr>
          <p:nvPr/>
        </p:nvSpPr>
        <p:spPr>
          <a:xfrm>
            <a:off x="33074" y="4380252"/>
            <a:ext cx="3673361" cy="115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altLang="zh-TW" sz="8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   Tzu-Yu Dai is with </a:t>
            </a:r>
            <a:r>
              <a:rPr lang="en-US" altLang="zh-TW" sz="8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Biomechatronics</a:t>
            </a:r>
            <a:r>
              <a:rPr lang="en-US" altLang="zh-TW" sz="8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Engineering, National Taiwan University, Taipei, Taiwan </a:t>
            </a:r>
            <a:r>
              <a:rPr lang="en-US" altLang="zh-TW" sz="8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3"/>
              </a:rPr>
              <a:t>b12611017@ntu.edu.tw</a:t>
            </a:r>
            <a:endParaRPr lang="en-US" altLang="zh-TW" sz="8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/>
            <a:r>
              <a:rPr lang="en-US" altLang="zh-TW" sz="8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   Ping-Lang Yen is with </a:t>
            </a:r>
            <a:r>
              <a:rPr lang="en-US" altLang="zh-TW" sz="8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Biomechatronics</a:t>
            </a:r>
            <a:r>
              <a:rPr lang="en-US" altLang="zh-TW" sz="8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Engineering, National Taiwan University, Taipei, Taiwan </a:t>
            </a:r>
            <a:r>
              <a:rPr lang="en-US" altLang="zh-TW" sz="8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4"/>
              </a:rPr>
              <a:t>plyen@ntu.edu.tw</a:t>
            </a:r>
            <a:endParaRPr lang="en-US" altLang="zh-TW" sz="8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/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  <a:cs typeface="CMU Sans Serif Medium" panose="02000603000000000000" pitchFamily="2" charset="0"/>
            </a:endParaRPr>
          </a:p>
          <a:p>
            <a:pPr marL="0" indent="0"/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  <a:cs typeface="CMU Sans Serif Medium" panose="02000603000000000000" pitchFamily="2" charset="0"/>
            </a:endParaRPr>
          </a:p>
        </p:txBody>
      </p:sp>
      <p:pic>
        <p:nvPicPr>
          <p:cNvPr id="2" name="圖片 6">
            <a:extLst>
              <a:ext uri="{FF2B5EF4-FFF2-40B4-BE49-F238E27FC236}">
                <a16:creationId xmlns:a16="http://schemas.microsoft.com/office/drawing/2014/main" id="{56E3D0AD-8AF8-2A21-D048-5623808D2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6581" y="3604600"/>
            <a:ext cx="659168" cy="10151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E0BF6C-8D87-F267-9D15-2AFF2AD9B0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2820" y="3625227"/>
            <a:ext cx="1547399" cy="994492"/>
          </a:xfrm>
          <a:prstGeom prst="rect">
            <a:avLst/>
          </a:prstGeom>
        </p:spPr>
      </p:pic>
      <p:pic>
        <p:nvPicPr>
          <p:cNvPr id="4" name="圖片 4">
            <a:extLst>
              <a:ext uri="{FF2B5EF4-FFF2-40B4-BE49-F238E27FC236}">
                <a16:creationId xmlns:a16="http://schemas.microsoft.com/office/drawing/2014/main" id="{777D5ABA-0F8D-CFBE-948B-5B076085790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816" b="98440" l="368" r="32138">
                        <a14:foregroundMark x1="12782" y1="67518" x2="12782" y2="67518"/>
                        <a14:foregroundMark x1="8874" y1="69220" x2="8874" y2="69220"/>
                        <a14:foregroundMark x1="13609" y1="67092" x2="13609" y2="67092"/>
                        <a14:foregroundMark x1="14437" y1="64539" x2="14437" y2="64539"/>
                        <a14:foregroundMark x1="21149" y1="64113" x2="21149" y2="64113"/>
                        <a14:foregroundMark x1="24598" y1="60851" x2="24598" y2="60851"/>
                        <a14:foregroundMark x1="26851" y1="70355" x2="26851" y2="70355"/>
                        <a14:foregroundMark x1="27908" y1="86099" x2="27908" y2="86099"/>
                        <a14:foregroundMark x1="23264" y1="86383" x2="20920" y2="66383"/>
                        <a14:foregroundMark x1="25425" y1="76596" x2="18897" y2="58723"/>
                        <a14:foregroundMark x1="18437" y1="60567" x2="19862" y2="78440"/>
                        <a14:foregroundMark x1="19632" y1="83121" x2="24828" y2="88936"/>
                        <a14:foregroundMark x1="25747" y1="93050" x2="30161" y2="63830"/>
                        <a14:foregroundMark x1="29563" y1="60851" x2="23034" y2="52908"/>
                        <a14:foregroundMark x1="22115" y1="22270" x2="14529" y2="13191"/>
                        <a14:foregroundMark x1="15126" y1="19007" x2="11586" y2="25957"/>
                        <a14:foregroundMark x1="11816" y1="28511" x2="18805" y2="33901"/>
                        <a14:foregroundMark x1="21287" y1="35319" x2="13103" y2="41560"/>
                        <a14:foregroundMark x1="11218" y1="44823" x2="15954" y2="49645"/>
                        <a14:foregroundMark x1="22437" y1="37589" x2="16322" y2="50638"/>
                        <a14:foregroundMark x1="16184" y1="44823" x2="9333" y2="21560"/>
                        <a14:foregroundMark x1="11678" y1="58014" x2="3310" y2="77730"/>
                        <a14:foregroundMark x1="4276" y1="61560" x2="11356" y2="90780"/>
                        <a14:foregroundMark x1="14161" y1="81986" x2="7448" y2="66383"/>
                        <a14:foregroundMark x1="9103" y1="54326" x2="2943" y2="59858"/>
                        <a14:foregroundMark x1="3310" y1="62411" x2="2345" y2="69645"/>
                        <a14:foregroundMark x1="2345" y1="76170" x2="2943" y2="83121"/>
                        <a14:foregroundMark x1="5333" y1="86383" x2="8506" y2="91489"/>
                        <a14:foregroundMark x1="11356" y1="90780" x2="14161" y2="78440"/>
                        <a14:foregroundMark x1="14529" y1="75177" x2="13333" y2="59007"/>
                        <a14:foregroundMark x1="15494" y1="14894" x2="10621" y2="21560"/>
                        <a14:foregroundMark x1="10299" y1="26950" x2="10989" y2="39716"/>
                        <a14:foregroundMark x1="11586" y1="42695" x2="15816" y2="51064"/>
                        <a14:foregroundMark x1="23816" y1="55603" x2="20138" y2="62128"/>
                        <a14:foregroundMark x1="20736" y1="60851" x2="29747" y2="78440"/>
                        <a14:foregroundMark x1="18069" y1="21135" x2="21563" y2="33050"/>
                        <a14:foregroundMark x1="21057" y1="44823" x2="17563" y2="49220"/>
                        <a14:foregroundMark x1="18621" y1="46667" x2="20644" y2="52199"/>
                        <a14:foregroundMark x1="21057" y1="53617" x2="20920" y2="59858"/>
                        <a14:foregroundMark x1="7724" y1="49645" x2="4966" y2="53901"/>
                        <a14:backgroundMark x1="10023" y1="9787" x2="10023" y2="9787"/>
                        <a14:backgroundMark x1="4506" y1="34610" x2="4506" y2="34610"/>
                        <a14:backgroundMark x1="28736" y1="31064" x2="28736" y2="31064"/>
                        <a14:backgroundMark x1="17149" y1="90780" x2="17149" y2="90780"/>
                        <a14:backgroundMark x1="4368" y1="94043" x2="4368" y2="940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7422"/>
          <a:stretch/>
        </p:blipFill>
        <p:spPr>
          <a:xfrm>
            <a:off x="4930390" y="3604040"/>
            <a:ext cx="1023973" cy="1018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181123EE-2C58-3FAE-0052-A0CE81A10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513401E-A8C8-6088-8C42-5CD67411FA0F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97B7875C-1AE8-D08A-43C9-2D526DF53D4E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137506E4-BC56-4215-221A-1D5C2839AC0E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CE7635BA-52BE-CED4-0B57-E9067F5562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3D484AAB-CEF0-DF32-20DC-CB40C47C1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B7B5A8EB-96C5-5961-EDF3-3FF29C9724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EB6DEB9-3355-1C00-72B9-FCB3A09406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2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F52885CC-6F3C-30BF-8D7F-920FE7B8C9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zh-TW" altLang="en-US" sz="2400" b="1" dirty="0"/>
              <a:t>硬體配置與數據採集架構</a:t>
            </a:r>
            <a:endParaRPr lang="en-US" altLang="zh-TW" sz="2400" b="1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6ED60094-4945-A7B1-6B92-D2DFEA7C5D6F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F8311A-825D-CA7E-EDC9-A4C74B4F83A8}"/>
              </a:ext>
            </a:extLst>
          </p:cNvPr>
          <p:cNvSpPr/>
          <p:nvPr/>
        </p:nvSpPr>
        <p:spPr>
          <a:xfrm>
            <a:off x="340400" y="2837793"/>
            <a:ext cx="2938828" cy="6756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Arduino(</a:t>
            </a:r>
            <a:r>
              <a:rPr lang="zh-TW" altLang="en-US" dirty="0"/>
              <a:t>可直接輸出</a:t>
            </a:r>
            <a:r>
              <a:rPr lang="en-US" altLang="zh-TW" dirty="0"/>
              <a:t>5v</a:t>
            </a:r>
            <a:r>
              <a:rPr lang="zh-TW" altLang="en-US" dirty="0"/>
              <a:t>邏輯訊號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4BA1CD-809D-9672-3F8F-5E39ADB5DD49}"/>
              </a:ext>
            </a:extLst>
          </p:cNvPr>
          <p:cNvSpPr/>
          <p:nvPr/>
        </p:nvSpPr>
        <p:spPr>
          <a:xfrm>
            <a:off x="3110571" y="4227956"/>
            <a:ext cx="1349528" cy="570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Driver</a:t>
            </a:r>
            <a:endParaRPr lang="zh-TW" altLang="en-US" dirty="0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88C29E94-5353-24F2-62EC-B4CA664A3906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>
            <a:off x="1809814" y="3513476"/>
            <a:ext cx="1975521" cy="714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84492E2-3FE4-31E6-9FF5-73F7D4E44F7C}"/>
              </a:ext>
            </a:extLst>
          </p:cNvPr>
          <p:cNvSpPr txBox="1"/>
          <p:nvPr/>
        </p:nvSpPr>
        <p:spPr>
          <a:xfrm>
            <a:off x="2902267" y="370461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控制訊號</a:t>
            </a: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6C1337FA-558E-1587-9301-A3671189D0FF}"/>
              </a:ext>
            </a:extLst>
          </p:cNvPr>
          <p:cNvCxnSpPr>
            <a:cxnSpLocks/>
          </p:cNvCxnSpPr>
          <p:nvPr/>
        </p:nvCxnSpPr>
        <p:spPr>
          <a:xfrm>
            <a:off x="4460099" y="4381844"/>
            <a:ext cx="1345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2A78365B-3563-AFEC-501F-1371F7F3B544}"/>
              </a:ext>
            </a:extLst>
          </p:cNvPr>
          <p:cNvSpPr/>
          <p:nvPr/>
        </p:nvSpPr>
        <p:spPr>
          <a:xfrm>
            <a:off x="5809627" y="4227955"/>
            <a:ext cx="1286466" cy="57024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Motor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0EEE7F7-3752-E58A-5BDF-7B2B44ED4706}"/>
              </a:ext>
            </a:extLst>
          </p:cNvPr>
          <p:cNvSpPr txBox="1"/>
          <p:nvPr/>
        </p:nvSpPr>
        <p:spPr>
          <a:xfrm>
            <a:off x="4501838" y="4599806"/>
            <a:ext cx="133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回授訊號</a:t>
            </a:r>
            <a:r>
              <a:rPr lang="en-US" altLang="zh-TW" dirty="0"/>
              <a:t>(Hall)</a:t>
            </a:r>
            <a:endParaRPr lang="zh-TW" altLang="en-US" dirty="0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C4386F8F-4F60-1A6D-5F45-1B62DA4D7D00}"/>
              </a:ext>
            </a:extLst>
          </p:cNvPr>
          <p:cNvCxnSpPr>
            <a:cxnSpLocks/>
          </p:cNvCxnSpPr>
          <p:nvPr/>
        </p:nvCxnSpPr>
        <p:spPr>
          <a:xfrm flipH="1">
            <a:off x="4433262" y="4579438"/>
            <a:ext cx="143151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FEF0252-53B5-8BB0-7AB6-74BA9221E148}"/>
              </a:ext>
            </a:extLst>
          </p:cNvPr>
          <p:cNvSpPr txBox="1"/>
          <p:nvPr/>
        </p:nvSpPr>
        <p:spPr>
          <a:xfrm>
            <a:off x="4460099" y="4052214"/>
            <a:ext cx="1321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控制算法</a:t>
            </a:r>
            <a:r>
              <a:rPr lang="en-US" altLang="zh-TW" dirty="0"/>
              <a:t>(PID)</a:t>
            </a:r>
            <a:endParaRPr lang="zh-TW" alt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43C5870-461B-DE5B-C8C4-53DCCD59C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03" y="903235"/>
            <a:ext cx="833770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電源供應器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：EA-PSI 9200-25 T (200V/25A) - 負責供電與電流/扭力錄製。</a:t>
            </a: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控制核心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：Arduino Nano (發送 PWM 指令 / 讀取編碼器 RPM)。</a:t>
            </a: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通訊架構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</a:rPr>
              <a:t>         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 端 (Python) 紀錄 Arduino 轉速回授。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 端 (EA Power Control) 紀錄電壓與電流響應。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58D12A8-2BDE-CF78-48FF-25C713678CB8}"/>
              </a:ext>
            </a:extLst>
          </p:cNvPr>
          <p:cNvSpPr txBox="1"/>
          <p:nvPr/>
        </p:nvSpPr>
        <p:spPr>
          <a:xfrm>
            <a:off x="1551710" y="3887352"/>
            <a:ext cx="133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回授訊號</a:t>
            </a:r>
            <a:r>
              <a:rPr lang="en-US" altLang="zh-TW" dirty="0"/>
              <a:t>(Hall)</a:t>
            </a:r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772A283B-E3B7-BB63-7781-C272960F5A16}"/>
              </a:ext>
            </a:extLst>
          </p:cNvPr>
          <p:cNvCxnSpPr>
            <a:cxnSpLocks/>
          </p:cNvCxnSpPr>
          <p:nvPr/>
        </p:nvCxnSpPr>
        <p:spPr>
          <a:xfrm flipH="1" flipV="1">
            <a:off x="1610538" y="3489041"/>
            <a:ext cx="2032449" cy="738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3FE8EF27-4AFB-9017-FF88-E840B92D9565}"/>
              </a:ext>
            </a:extLst>
          </p:cNvPr>
          <p:cNvSpPr/>
          <p:nvPr/>
        </p:nvSpPr>
        <p:spPr>
          <a:xfrm>
            <a:off x="6693722" y="2837793"/>
            <a:ext cx="1364566" cy="67568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電源供應器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A81E1E1-9936-41EC-6CE9-16467169D2B1}"/>
              </a:ext>
            </a:extLst>
          </p:cNvPr>
          <p:cNvSpPr/>
          <p:nvPr/>
        </p:nvSpPr>
        <p:spPr>
          <a:xfrm>
            <a:off x="4427272" y="2837792"/>
            <a:ext cx="1223889" cy="675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PC</a:t>
            </a:r>
            <a:r>
              <a:rPr lang="zh-TW" altLang="en-US" dirty="0"/>
              <a:t>紀錄數據</a:t>
            </a: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ABE7DBA3-12BE-43CE-B141-12171B30DD1A}"/>
              </a:ext>
            </a:extLst>
          </p:cNvPr>
          <p:cNvCxnSpPr>
            <a:cxnSpLocks/>
            <a:stCxn id="23" idx="2"/>
            <a:endCxn id="32" idx="0"/>
          </p:cNvCxnSpPr>
          <p:nvPr/>
        </p:nvCxnSpPr>
        <p:spPr>
          <a:xfrm flipH="1">
            <a:off x="6452860" y="3513476"/>
            <a:ext cx="923145" cy="7144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81BB261-7D7F-8CAB-BDAA-8BC9BF14E3F2}"/>
              </a:ext>
            </a:extLst>
          </p:cNvPr>
          <p:cNvSpPr txBox="1"/>
          <p:nvPr/>
        </p:nvSpPr>
        <p:spPr>
          <a:xfrm>
            <a:off x="7048311" y="3762497"/>
            <a:ext cx="571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電力</a:t>
            </a:r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E89B35D5-D784-D933-F9E8-C11E4683FDEC}"/>
              </a:ext>
            </a:extLst>
          </p:cNvPr>
          <p:cNvCxnSpPr>
            <a:cxnSpLocks/>
            <a:stCxn id="14" idx="3"/>
            <a:endCxn id="25" idx="1"/>
          </p:cNvCxnSpPr>
          <p:nvPr/>
        </p:nvCxnSpPr>
        <p:spPr>
          <a:xfrm flipV="1">
            <a:off x="3279228" y="3175634"/>
            <a:ext cx="1148044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0ADFB033-7790-6899-E765-0790BDDBEF95}"/>
              </a:ext>
            </a:extLst>
          </p:cNvPr>
          <p:cNvCxnSpPr>
            <a:cxnSpLocks/>
            <a:stCxn id="23" idx="1"/>
            <a:endCxn id="25" idx="3"/>
          </p:cNvCxnSpPr>
          <p:nvPr/>
        </p:nvCxnSpPr>
        <p:spPr>
          <a:xfrm flipH="1" flipV="1">
            <a:off x="5651161" y="3175634"/>
            <a:ext cx="104256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399A0234-7D53-7493-8D8C-559FACEF2EBB}"/>
              </a:ext>
            </a:extLst>
          </p:cNvPr>
          <p:cNvSpPr txBox="1"/>
          <p:nvPr/>
        </p:nvSpPr>
        <p:spPr>
          <a:xfrm>
            <a:off x="3356251" y="284845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馬達狀態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C60E795D-190F-CE01-55EF-DCEFF4CA6C4E}"/>
              </a:ext>
            </a:extLst>
          </p:cNvPr>
          <p:cNvSpPr txBox="1"/>
          <p:nvPr/>
        </p:nvSpPr>
        <p:spPr>
          <a:xfrm>
            <a:off x="5720453" y="283913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電力數據</a:t>
            </a:r>
          </a:p>
        </p:txBody>
      </p:sp>
    </p:spTree>
    <p:extLst>
      <p:ext uri="{BB962C8B-B14F-4D97-AF65-F5344CB8AC3E}">
        <p14:creationId xmlns:p14="http://schemas.microsoft.com/office/powerpoint/2010/main" val="392329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8407ABE-FB8D-CE78-6A28-910A1D5DA8F8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C685194-F9B7-60D1-4185-A4FE1372DA7D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34AC41B5-083C-A158-2D6C-3AA14C8298F8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44F95E5-A8CF-514D-3286-71AC412BF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D9003049-7FCE-C4CF-59D9-D74508C7A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88431988-1159-8B6B-4E5D-02E668D919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133263A-151B-4B97-AD39-572BCE7DAF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CA36A47D-4295-47BC-97C0-B0C708162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zh-TW" altLang="en-US" sz="2400" b="1" dirty="0"/>
              <a:t>電源分析軟體應用</a:t>
            </a:r>
            <a:endParaRPr lang="en-US" altLang="zh-TW" sz="2400" b="1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3F0BE8F-C57E-29AB-2139-B038E1FB80DB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8" name="圖片 17" descr="一張含有 文字, 字型, 白色 的圖片">
            <a:extLst>
              <a:ext uri="{FF2B5EF4-FFF2-40B4-BE49-F238E27FC236}">
                <a16:creationId xmlns:a16="http://schemas.microsoft.com/office/drawing/2014/main" id="{D89FF253-5770-A0EC-1136-13C97EAC4B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650" y="773431"/>
            <a:ext cx="5982947" cy="947794"/>
          </a:xfrm>
          <a:prstGeom prst="rect">
            <a:avLst/>
          </a:prstGeom>
        </p:spPr>
      </p:pic>
      <p:pic>
        <p:nvPicPr>
          <p:cNvPr id="2051" name="Picture 3" descr="EA-PSI 9080-60 T EA ELEKTRO-AUTOMATIK, Bench Power Supply, Programmable, 1  Output | e絡盟台灣">
            <a:extLst>
              <a:ext uri="{FF2B5EF4-FFF2-40B4-BE49-F238E27FC236}">
                <a16:creationId xmlns:a16="http://schemas.microsoft.com/office/drawing/2014/main" id="{F2F055AB-52C4-CE58-8C1A-5325AA9A2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006" y="773431"/>
            <a:ext cx="1436479" cy="2461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6985E84B-F753-BF39-AE95-EB38BA7CCD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886" y="1807186"/>
            <a:ext cx="3015224" cy="2461233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BCE947F8-E300-6B3A-F529-1322CE78B11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51593"/>
          <a:stretch>
            <a:fillRect/>
          </a:stretch>
        </p:blipFill>
        <p:spPr>
          <a:xfrm>
            <a:off x="302654" y="3336314"/>
            <a:ext cx="7859325" cy="15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1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64BEE976-3932-88F6-4081-285CEE5F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8DB519D-FC6D-1363-894D-7AFBEC4E14CD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12BCDA0D-CCCB-B6D5-FFBA-E74E7A85B2DB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B25FF954-93A5-1C14-34B4-010970DF3D35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59228A86-5D45-76E6-5323-653950805E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EACEFBA1-9752-BB78-63F0-CCCBB4153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020AB3CC-7156-1129-AE2A-AE00D78C8C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49CFE4-F2B2-10A3-1792-4760533204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37C248DD-D638-25BE-E475-D783D90B38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zh-TW" altLang="en-US" sz="2400" b="1" dirty="0"/>
              <a:t>測試腳本與動態測試</a:t>
            </a:r>
            <a:endParaRPr lang="en-US" altLang="zh-TW" sz="2400" b="1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01FA3D56-BB5F-EC13-3098-0AA13576B7E5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B7CDEA8-9DBB-8EE6-5A03-51D128472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19" y="766606"/>
            <a:ext cx="760657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測試腳本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：靜止 -&gt; 1000 RPM -&gt; </a:t>
            </a: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3000 RPM (階梯訊號)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-&gt; 減速。</a:t>
            </a: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測試區間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：由 1000 RPM 瞬間加速至 3000 RPM 的過程。</a:t>
            </a: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數據對齊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：將 Arduino 的轉速數據與電源供應器的電流數據在時間軸上對齊，分析響應延遲。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525BFB1B-F786-38A0-D21A-072A82E56C0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155" t="11288" r="5728" b="3123"/>
          <a:stretch>
            <a:fillRect/>
          </a:stretch>
        </p:blipFill>
        <p:spPr>
          <a:xfrm>
            <a:off x="1304573" y="2073999"/>
            <a:ext cx="6141926" cy="298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5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9D6658E3-B357-A4F5-091C-89F526DB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108447C-354D-1CFF-F9EA-A6D07DDF880C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7B7C00A8-F33C-3077-D1DC-38798F6DC8F4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5325F6A8-7961-8E5B-5EC3-54B300208474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2D15C292-2A04-C624-069B-795B2E9AEB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1C6C744A-6DBF-8146-6F9D-4D55B27B7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765671B5-8B64-6AD8-6245-DB3A172ECD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8C3E2C-67C0-1944-CB55-C50E557CD445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8047399" cy="194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38E2D58-0616-E730-D4AB-44BBB374B2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6DE067B8-CEAF-9CB7-F9D7-E2730B8D57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zh-TW" altLang="en-US" sz="2400" b="1" dirty="0"/>
              <a:t>轉速演算法實現 </a:t>
            </a:r>
            <a:r>
              <a:rPr lang="en-US" altLang="zh-TW" sz="2400" b="1" dirty="0"/>
              <a:t>(RPM Algorithm)</a:t>
            </a:r>
            <a:endParaRPr lang="en-US" altLang="zh-TW" sz="2400" b="1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8B6EFC8-264A-9795-68BF-51B742D752BB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68BE68C3-83F7-074F-0068-A7EF23998F7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897" t="12082" r="10057"/>
          <a:stretch>
            <a:fillRect/>
          </a:stretch>
        </p:blipFill>
        <p:spPr>
          <a:xfrm>
            <a:off x="3984504" y="1335813"/>
            <a:ext cx="4506196" cy="2762518"/>
          </a:xfrm>
          <a:prstGeom prst="rect">
            <a:avLst/>
          </a:prstGeom>
        </p:spPr>
      </p:pic>
      <p:pic>
        <p:nvPicPr>
          <p:cNvPr id="20" name="圖片 19" descr="一張含有 文字, 螢幕擷取畫面, 字型, 數字 的圖片">
            <a:extLst>
              <a:ext uri="{FF2B5EF4-FFF2-40B4-BE49-F238E27FC236}">
                <a16:creationId xmlns:a16="http://schemas.microsoft.com/office/drawing/2014/main" id="{B91570BB-B2F9-4C7D-C6BE-DDC6917E0B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651" y="853597"/>
            <a:ext cx="3779236" cy="2964674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39081D0B-2E25-BF8A-3085-D06320FEA43F}"/>
              </a:ext>
            </a:extLst>
          </p:cNvPr>
          <p:cNvSpPr txBox="1"/>
          <p:nvPr/>
        </p:nvSpPr>
        <p:spPr>
          <a:xfrm>
            <a:off x="5533293" y="982466"/>
            <a:ext cx="1794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Step response plot</a:t>
            </a:r>
          </a:p>
        </p:txBody>
      </p:sp>
    </p:spTree>
    <p:extLst>
      <p:ext uri="{BB962C8B-B14F-4D97-AF65-F5344CB8AC3E}">
        <p14:creationId xmlns:p14="http://schemas.microsoft.com/office/powerpoint/2010/main" val="158597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18992212-ED7C-4C6E-DD2D-AC81DCAFC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6109805-D480-1951-4628-A7C89EAA52CB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F325963D-D543-EC33-6FA9-967149B6B24A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5F24C372-FD99-94BC-6E1A-556FC41FA994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7A0BF313-977D-6492-7007-A8E5B49A7A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0D6431B9-9AB8-B0D3-9903-0F2C3EE97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1A819A2A-892D-25E3-2353-0709EF9B27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99E428C-7CCD-AAED-604E-BA82DACAFF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CBA6E3AD-CBD5-1D95-6A0E-547D555DB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zh-TW" altLang="en-US" sz="2400" b="1" dirty="0"/>
              <a:t>轉移函數結果驗證</a:t>
            </a:r>
            <a:endParaRPr lang="en-US" altLang="zh-TW" sz="2400" b="1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042E141C-50D7-651A-479C-60309EC7014A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4" name="圖片 13" descr="一張含有 文字, 螢幕擷取畫面, 字型 的圖片">
            <a:extLst>
              <a:ext uri="{FF2B5EF4-FFF2-40B4-BE49-F238E27FC236}">
                <a16:creationId xmlns:a16="http://schemas.microsoft.com/office/drawing/2014/main" id="{01442B67-40E1-4395-6CF1-B7C33D229D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600" y="872337"/>
            <a:ext cx="4266400" cy="276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9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6C7105FA-B2F5-7A23-4CEE-65BABE158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EECB8B0-C7C0-293A-0CD7-AEF2485B5252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23F97BA-9A86-DC57-AAD2-025EE061288A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073A7BAD-0881-2CBC-E7B4-36076F737876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4589E7D9-12D7-F2A9-FC1F-E0B424E3C0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BC1345C4-1E95-CEEF-06A8-F8C963D1A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B411DD53-67B1-1AD7-41E8-E9EA504324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15A7B89-AE55-73CE-6FFD-46A4F56E6E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A57D163E-8EB1-7EB4-8CCF-6C997287A3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zh-TW" altLang="en-US" sz="2400" b="1" dirty="0"/>
              <a:t>討論與誤差分析</a:t>
            </a:r>
            <a:endParaRPr lang="en-US" altLang="zh-TW" sz="2400" b="1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63F7BB77-4DDE-9B6F-D48D-3CE34E5CC714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片 12" descr="一張含有 文字, 字型, 螢幕擷取畫面, 代數 的圖片">
            <a:extLst>
              <a:ext uri="{FF2B5EF4-FFF2-40B4-BE49-F238E27FC236}">
                <a16:creationId xmlns:a16="http://schemas.microsoft.com/office/drawing/2014/main" id="{D0A47E34-D312-1BEB-F879-DDDC9F4E57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178" y="906681"/>
            <a:ext cx="6113473" cy="242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73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>
          <a:extLst>
            <a:ext uri="{FF2B5EF4-FFF2-40B4-BE49-F238E27FC236}">
              <a16:creationId xmlns:a16="http://schemas.microsoft.com/office/drawing/2014/main" id="{76648E3B-6D41-6E08-9598-6390EA80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D3250CF-7AA3-4C8F-F65A-AE3603900D6D}"/>
              </a:ext>
            </a:extLst>
          </p:cNvPr>
          <p:cNvGrpSpPr/>
          <p:nvPr/>
        </p:nvGrpSpPr>
        <p:grpSpPr>
          <a:xfrm>
            <a:off x="8580151" y="-33900"/>
            <a:ext cx="588134" cy="5203797"/>
            <a:chOff x="8580151" y="-33900"/>
            <a:chExt cx="588134" cy="5203797"/>
          </a:xfrm>
        </p:grpSpPr>
        <p:grpSp>
          <p:nvGrpSpPr>
            <p:cNvPr id="5" name="群組 11">
              <a:extLst>
                <a:ext uri="{FF2B5EF4-FFF2-40B4-BE49-F238E27FC236}">
                  <a16:creationId xmlns:a16="http://schemas.microsoft.com/office/drawing/2014/main" id="{EB9E05A3-5D80-7ABB-4CBD-0BC5E9C55028}"/>
                </a:ext>
              </a:extLst>
            </p:cNvPr>
            <p:cNvGrpSpPr/>
            <p:nvPr/>
          </p:nvGrpSpPr>
          <p:grpSpPr>
            <a:xfrm>
              <a:off x="8596126" y="-33900"/>
              <a:ext cx="543768" cy="5203797"/>
              <a:chOff x="8596126" y="-33900"/>
              <a:chExt cx="543768" cy="5203797"/>
            </a:xfrm>
          </p:grpSpPr>
          <p:sp>
            <p:nvSpPr>
              <p:cNvPr id="8" name="Google Shape;57;p15">
                <a:extLst>
                  <a:ext uri="{FF2B5EF4-FFF2-40B4-BE49-F238E27FC236}">
                    <a16:creationId xmlns:a16="http://schemas.microsoft.com/office/drawing/2014/main" id="{163F3572-75E9-9123-A6CD-4FA5F3611BAA}"/>
                  </a:ext>
                </a:extLst>
              </p:cNvPr>
              <p:cNvSpPr/>
              <p:nvPr/>
            </p:nvSpPr>
            <p:spPr>
              <a:xfrm>
                <a:off x="8599894" y="-33900"/>
                <a:ext cx="540000" cy="5203797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66415" extrusionOk="0">
                    <a:moveTo>
                      <a:pt x="751" y="1"/>
                    </a:moveTo>
                    <a:cubicBezTo>
                      <a:pt x="346" y="1"/>
                      <a:pt x="1" y="334"/>
                      <a:pt x="1" y="751"/>
                    </a:cubicBezTo>
                    <a:lnTo>
                      <a:pt x="1" y="165664"/>
                    </a:lnTo>
                    <a:cubicBezTo>
                      <a:pt x="1" y="166081"/>
                      <a:pt x="334" y="166414"/>
                      <a:pt x="751" y="166414"/>
                    </a:cubicBezTo>
                    <a:cubicBezTo>
                      <a:pt x="1167" y="166414"/>
                      <a:pt x="1513" y="166081"/>
                      <a:pt x="1513" y="165664"/>
                    </a:cubicBezTo>
                    <a:lnTo>
                      <a:pt x="1513" y="751"/>
                    </a:lnTo>
                    <a:cubicBezTo>
                      <a:pt x="1513" y="334"/>
                      <a:pt x="1167" y="1"/>
                      <a:pt x="751" y="1"/>
                    </a:cubicBezTo>
                    <a:close/>
                  </a:path>
                </a:pathLst>
              </a:custGeom>
              <a:solidFill>
                <a:srgbClr val="C8E4FA"/>
              </a:solidFill>
              <a:ln>
                <a:solidFill>
                  <a:srgbClr val="C8E4FA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pic>
            <p:nvPicPr>
              <p:cNvPr id="9" name="圖片 13">
                <a:extLst>
                  <a:ext uri="{FF2B5EF4-FFF2-40B4-BE49-F238E27FC236}">
                    <a16:creationId xmlns:a16="http://schemas.microsoft.com/office/drawing/2014/main" id="{37DC8D28-66DB-9945-78BE-31B5D19332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96126" y="3858499"/>
                <a:ext cx="540000" cy="831600"/>
              </a:xfrm>
              <a:prstGeom prst="rect">
                <a:avLst/>
              </a:prstGeom>
            </p:spPr>
          </p:pic>
        </p:grpSp>
        <p:pic>
          <p:nvPicPr>
            <p:cNvPr id="6" name="圖片 3">
              <a:extLst>
                <a:ext uri="{FF2B5EF4-FFF2-40B4-BE49-F238E27FC236}">
                  <a16:creationId xmlns:a16="http://schemas.microsoft.com/office/drawing/2014/main" id="{F1250723-8359-2B9A-E261-3AA38EDFA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80151" y="2933598"/>
              <a:ext cx="588134" cy="394624"/>
            </a:xfrm>
            <a:prstGeom prst="rect">
              <a:avLst/>
            </a:prstGeom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A8670A5C-713E-A65E-BB52-560E94D503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816" b="98440" l="368" r="32138">
                          <a14:foregroundMark x1="12782" y1="67518" x2="12782" y2="67518"/>
                          <a14:foregroundMark x1="8874" y1="69220" x2="8874" y2="69220"/>
                          <a14:foregroundMark x1="13609" y1="67092" x2="13609" y2="67092"/>
                          <a14:foregroundMark x1="14437" y1="64539" x2="14437" y2="64539"/>
                          <a14:foregroundMark x1="21149" y1="64113" x2="21149" y2="64113"/>
                          <a14:foregroundMark x1="24598" y1="60851" x2="24598" y2="60851"/>
                          <a14:foregroundMark x1="26851" y1="70355" x2="26851" y2="70355"/>
                          <a14:foregroundMark x1="27908" y1="86099" x2="27908" y2="86099"/>
                          <a14:foregroundMark x1="23264" y1="86383" x2="20920" y2="66383"/>
                          <a14:foregroundMark x1="25425" y1="76596" x2="18897" y2="58723"/>
                          <a14:foregroundMark x1="18437" y1="60567" x2="19862" y2="78440"/>
                          <a14:foregroundMark x1="19632" y1="83121" x2="24828" y2="88936"/>
                          <a14:foregroundMark x1="25747" y1="93050" x2="30161" y2="63830"/>
                          <a14:foregroundMark x1="29563" y1="60851" x2="23034" y2="52908"/>
                          <a14:foregroundMark x1="22115" y1="22270" x2="14529" y2="13191"/>
                          <a14:foregroundMark x1="15126" y1="19007" x2="11586" y2="25957"/>
                          <a14:foregroundMark x1="11816" y1="28511" x2="18805" y2="33901"/>
                          <a14:foregroundMark x1="21287" y1="35319" x2="13103" y2="41560"/>
                          <a14:foregroundMark x1="11218" y1="44823" x2="15954" y2="49645"/>
                          <a14:foregroundMark x1="22437" y1="37589" x2="16322" y2="50638"/>
                          <a14:foregroundMark x1="16184" y1="44823" x2="9333" y2="21560"/>
                          <a14:foregroundMark x1="11678" y1="58014" x2="3310" y2="77730"/>
                          <a14:foregroundMark x1="4276" y1="61560" x2="11356" y2="90780"/>
                          <a14:foregroundMark x1="14161" y1="81986" x2="7448" y2="66383"/>
                          <a14:foregroundMark x1="9103" y1="54326" x2="2943" y2="59858"/>
                          <a14:foregroundMark x1="3310" y1="62411" x2="2345" y2="69645"/>
                          <a14:foregroundMark x1="2345" y1="76170" x2="2943" y2="83121"/>
                          <a14:foregroundMark x1="5333" y1="86383" x2="8506" y2="91489"/>
                          <a14:foregroundMark x1="11356" y1="90780" x2="14161" y2="78440"/>
                          <a14:foregroundMark x1="14529" y1="75177" x2="13333" y2="59007"/>
                          <a14:foregroundMark x1="15494" y1="14894" x2="10621" y2="21560"/>
                          <a14:foregroundMark x1="10299" y1="26950" x2="10989" y2="39716"/>
                          <a14:foregroundMark x1="11586" y1="42695" x2="15816" y2="51064"/>
                          <a14:foregroundMark x1="23816" y1="55603" x2="20138" y2="62128"/>
                          <a14:foregroundMark x1="20736" y1="60851" x2="29747" y2="78440"/>
                          <a14:foregroundMark x1="18069" y1="21135" x2="21563" y2="33050"/>
                          <a14:foregroundMark x1="21057" y1="44823" x2="17563" y2="49220"/>
                          <a14:foregroundMark x1="18621" y1="46667" x2="20644" y2="52199"/>
                          <a14:foregroundMark x1="21057" y1="53617" x2="20920" y2="59858"/>
                          <a14:foregroundMark x1="7724" y1="49645" x2="4966" y2="53901"/>
                          <a14:backgroundMark x1="10023" y1="9787" x2="10023" y2="9787"/>
                          <a14:backgroundMark x1="4506" y1="34610" x2="4506" y2="34610"/>
                          <a14:backgroundMark x1="28736" y1="31064" x2="28736" y2="31064"/>
                          <a14:backgroundMark x1="17149" y1="90780" x2="17149" y2="90780"/>
                          <a14:backgroundMark x1="4368" y1="94043" x2="4368" y2="940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22"/>
            <a:stretch/>
          </p:blipFill>
          <p:spPr>
            <a:xfrm>
              <a:off x="8623926" y="3336314"/>
              <a:ext cx="484400" cy="481957"/>
            </a:xfrm>
            <a:prstGeom prst="rect">
              <a:avLst/>
            </a:prstGeom>
          </p:spPr>
        </p:pic>
      </p:grp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5C1A82-50E1-C30C-15D8-E2EE6D3120AA}"/>
              </a:ext>
            </a:extLst>
          </p:cNvPr>
          <p:cNvSpPr txBox="1">
            <a:spLocks/>
          </p:cNvSpPr>
          <p:nvPr/>
        </p:nvSpPr>
        <p:spPr>
          <a:xfrm>
            <a:off x="254651" y="711373"/>
            <a:ext cx="7395829" cy="397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+mj-lt"/>
              <a:buAutoNum type="arabicPeriod"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平台移植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正在學習中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Arduino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驗證成功的邏輯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中斷處理、狀態機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移植至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STM32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，提升運算效能以整合更多感測器。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indent="-34290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Font typeface="+mj-lt"/>
              <a:buAutoNum type="arabicPeriod"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系統整合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：開發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ROS2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介面，接收上層導航電腦之 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cmd_vel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指令。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實現閉迴路速度控制，驗證在負載變化下轉速的穩定性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spcBef>
                <a:spcPts val="800"/>
              </a:spcBef>
              <a:buClr>
                <a:srgbClr val="3D98DE"/>
              </a:buClr>
              <a:buNone/>
            </a:pPr>
            <a:endParaRPr lang="en-US" altLang="zh-TW" sz="10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477283A-C5CB-702D-63F1-052AC6B55D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E85E0C-F6DF-4C2C-9974-C2547ED92EE1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16" name="Google Shape;2366;p43">
            <a:extLst>
              <a:ext uri="{FF2B5EF4-FFF2-40B4-BE49-F238E27FC236}">
                <a16:creationId xmlns:a16="http://schemas.microsoft.com/office/drawing/2014/main" id="{91A6EF89-16B5-C6DD-72E1-B06C67A439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20" y="212801"/>
            <a:ext cx="879356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/>
            <a:r>
              <a:rPr lang="zh-TW" altLang="en-US" sz="2400" dirty="0"/>
              <a:t>預期成果與下一步</a:t>
            </a:r>
            <a:endParaRPr lang="en-US" altLang="zh-TW" sz="2400" dirty="0">
              <a:solidFill>
                <a:srgbClr val="3D98D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05BE5A2-E958-40EB-2A1B-E5CF3B4569CD}"/>
              </a:ext>
            </a:extLst>
          </p:cNvPr>
          <p:cNvSpPr/>
          <p:nvPr/>
        </p:nvSpPr>
        <p:spPr>
          <a:xfrm>
            <a:off x="258419" y="693374"/>
            <a:ext cx="8232281" cy="18000"/>
          </a:xfrm>
          <a:prstGeom prst="round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0342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Timeline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EB2FC"/>
      </a:accent1>
      <a:accent2>
        <a:srgbClr val="69E781"/>
      </a:accent2>
      <a:accent3>
        <a:srgbClr val="869FB2"/>
      </a:accent3>
      <a:accent4>
        <a:srgbClr val="4949E7"/>
      </a:accent4>
      <a:accent5>
        <a:srgbClr val="FCBD24"/>
      </a:accent5>
      <a:accent6>
        <a:srgbClr val="EC3A3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78140</TotalTime>
  <Words>366</Words>
  <Application>Microsoft Office PowerPoint</Application>
  <PresentationFormat>如螢幕大小 (16:9)</PresentationFormat>
  <Paragraphs>60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6" baseType="lpstr">
      <vt:lpstr>Arial</vt:lpstr>
      <vt:lpstr>Fira Sans Extra Condensed SemiBold</vt:lpstr>
      <vt:lpstr>Roboto</vt:lpstr>
      <vt:lpstr>微軟正黑體</vt:lpstr>
      <vt:lpstr>Times New Roman</vt:lpstr>
      <vt:lpstr>Fira Sans Extra Condensed</vt:lpstr>
      <vt:lpstr>CMU Sans Serif Medium</vt:lpstr>
      <vt:lpstr>Timeline Infographics by Slidesgo</vt:lpstr>
      <vt:lpstr>BLDC Research Motor System Identification &amp; Transfer Function Derivation</vt:lpstr>
      <vt:lpstr>硬體配置與數據採集架構</vt:lpstr>
      <vt:lpstr>電源分析軟體應用</vt:lpstr>
      <vt:lpstr>測試腳本與動態測試</vt:lpstr>
      <vt:lpstr>轉速演算法實現 (RPM Algorithm)</vt:lpstr>
      <vt:lpstr>轉移函數結果驗證</vt:lpstr>
      <vt:lpstr>討論與誤差分析</vt:lpstr>
      <vt:lpstr>預期成果與下一步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 Infographics</dc:title>
  <dc:creator>eatshit!</dc:creator>
  <cp:lastModifiedBy>Lego Dai</cp:lastModifiedBy>
  <cp:revision>2471</cp:revision>
  <dcterms:modified xsi:type="dcterms:W3CDTF">2026-01-16T05:23:18Z</dcterms:modified>
</cp:coreProperties>
</file>